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Nuni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bold.fntdata"/><Relationship Id="rId16" Type="http://schemas.openxmlformats.org/officeDocument/2006/relationships/font" Target="fonts/Nunito-regular.fntdata"/><Relationship Id="rId5" Type="http://schemas.openxmlformats.org/officeDocument/2006/relationships/notesMaster" Target="notesMasters/notesMaster1.xml"/><Relationship Id="rId19" Type="http://schemas.openxmlformats.org/officeDocument/2006/relationships/font" Target="fonts/Nunito-boldItalic.fntdata"/><Relationship Id="rId6" Type="http://schemas.openxmlformats.org/officeDocument/2006/relationships/slide" Target="slides/slide1.xml"/><Relationship Id="rId18" Type="http://schemas.openxmlformats.org/officeDocument/2006/relationships/font" Target="fonts/Nuni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a2a0217c3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a2a0217c3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a2a0217c3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a2a0217c3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a2a0217c3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fa2a0217c3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fa2a0217c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fa2a0217c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a2a0217c3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fa2a0217c3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a2a0217c3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fa2a0217c3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a2a0217c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fa2a0217c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a2a0217c3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a2a0217c3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b99d95069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8b99d9506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3203250" y="2249550"/>
            <a:ext cx="2737500" cy="644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
              <a:t>RegiServ</a:t>
            </a:r>
            <a:endParaRPr/>
          </a:p>
        </p:txBody>
      </p:sp>
      <p:sp>
        <p:nvSpPr>
          <p:cNvPr id="129" name="Google Shape;129;p13"/>
          <p:cNvSpPr txBox="1"/>
          <p:nvPr>
            <p:ph idx="1" type="subTitle"/>
          </p:nvPr>
        </p:nvSpPr>
        <p:spPr>
          <a:xfrm>
            <a:off x="6228000" y="3694043"/>
            <a:ext cx="2276100" cy="977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Felipe Sanchez </a:t>
            </a:r>
            <a:endParaRPr/>
          </a:p>
          <a:p>
            <a:pPr indent="0" lvl="0" marL="0" rtl="0" algn="ctr">
              <a:spcBef>
                <a:spcPts val="0"/>
              </a:spcBef>
              <a:spcAft>
                <a:spcPts val="0"/>
              </a:spcAft>
              <a:buNone/>
            </a:pPr>
            <a:r>
              <a:rPr lang="es"/>
              <a:t>Elias Antican</a:t>
            </a:r>
            <a:endParaRPr/>
          </a:p>
          <a:p>
            <a:pPr indent="0" lvl="0" marL="0" rtl="0" algn="ctr">
              <a:spcBef>
                <a:spcPts val="0"/>
              </a:spcBef>
              <a:spcAft>
                <a:spcPts val="0"/>
              </a:spcAft>
              <a:buNone/>
            </a:pPr>
            <a:r>
              <a:rPr lang="es"/>
              <a:t>Jose Vasquez</a:t>
            </a:r>
            <a:endParaRPr/>
          </a:p>
        </p:txBody>
      </p:sp>
      <p:pic>
        <p:nvPicPr>
          <p:cNvPr id="130" name="Google Shape;130;p13" title="b9690f8d5b9d91f8c4bd01f0c3e8752b.png"/>
          <p:cNvPicPr preferRelativeResize="0"/>
          <p:nvPr/>
        </p:nvPicPr>
        <p:blipFill>
          <a:blip r:embed="rId3">
            <a:alphaModFix/>
          </a:blip>
          <a:stretch>
            <a:fillRect/>
          </a:stretch>
        </p:blipFill>
        <p:spPr>
          <a:xfrm>
            <a:off x="2954000" y="1280714"/>
            <a:ext cx="3236000" cy="796367"/>
          </a:xfrm>
          <a:prstGeom prst="rect">
            <a:avLst/>
          </a:prstGeom>
          <a:noFill/>
          <a:ln>
            <a:noFill/>
          </a:ln>
        </p:spPr>
      </p:pic>
      <p:sp>
        <p:nvSpPr>
          <p:cNvPr id="131" name="Google Shape;131;p13"/>
          <p:cNvSpPr txBox="1"/>
          <p:nvPr>
            <p:ph type="ctrTitle"/>
          </p:nvPr>
        </p:nvSpPr>
        <p:spPr>
          <a:xfrm>
            <a:off x="3634950" y="2831875"/>
            <a:ext cx="1874100" cy="461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SzPts val="990"/>
              <a:buNone/>
            </a:pPr>
            <a:r>
              <a:rPr lang="es" sz="1420">
                <a:solidFill>
                  <a:srgbClr val="000000"/>
                </a:solidFill>
              </a:rPr>
              <a:t>Capstone 004D</a:t>
            </a:r>
            <a:endParaRPr sz="142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Situación Actual y Problemática: Área de Servicios</a:t>
            </a:r>
            <a:endParaRPr/>
          </a:p>
        </p:txBody>
      </p:sp>
      <p:sp>
        <p:nvSpPr>
          <p:cNvPr id="137" name="Google Shape;137;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sz="1100">
                <a:solidFill>
                  <a:srgbClr val="000000"/>
                </a:solidFill>
                <a:latin typeface="Arial"/>
                <a:ea typeface="Arial"/>
                <a:cs typeface="Arial"/>
                <a:sym typeface="Arial"/>
              </a:rPr>
              <a:t>Gestión reactiva:</a:t>
            </a:r>
            <a:r>
              <a:rPr lang="es" sz="1100">
                <a:solidFill>
                  <a:srgbClr val="000000"/>
                </a:solidFill>
                <a:latin typeface="Arial"/>
                <a:ea typeface="Arial"/>
                <a:cs typeface="Arial"/>
                <a:sym typeface="Arial"/>
              </a:rPr>
              <a:t> El supervisor se entera de la falta de insumos o del mal estado de los baños principalmente por quejas de los usuarios o cuando ya ocurrió el problema.</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s" sz="1100">
                <a:solidFill>
                  <a:srgbClr val="000000"/>
                </a:solidFill>
                <a:latin typeface="Arial"/>
                <a:ea typeface="Arial"/>
                <a:cs typeface="Arial"/>
                <a:sym typeface="Arial"/>
              </a:rPr>
              <a:t>Falta de información clara:</a:t>
            </a:r>
            <a:r>
              <a:rPr lang="es" sz="1100">
                <a:solidFill>
                  <a:srgbClr val="000000"/>
                </a:solidFill>
                <a:latin typeface="Arial"/>
                <a:ea typeface="Arial"/>
                <a:cs typeface="Arial"/>
                <a:sym typeface="Arial"/>
              </a:rPr>
              <a:t> Durante el día es difícil saber con certeza qué sectores ya se limpiaron, a qué hora se hizo y quién estuvo a cargo.</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s" sz="1100">
                <a:solidFill>
                  <a:srgbClr val="000000"/>
                </a:solidFill>
                <a:latin typeface="Arial"/>
                <a:ea typeface="Arial"/>
                <a:cs typeface="Arial"/>
                <a:sym typeface="Arial"/>
              </a:rPr>
              <a:t>Supervisión desgastante:</a:t>
            </a:r>
            <a:r>
              <a:rPr lang="es" sz="1100">
                <a:solidFill>
                  <a:srgbClr val="000000"/>
                </a:solidFill>
                <a:latin typeface="Arial"/>
                <a:ea typeface="Arial"/>
                <a:cs typeface="Arial"/>
                <a:sym typeface="Arial"/>
              </a:rPr>
              <a:t> El jefe de servicios depende casi por completo de recorrer la sede a pie para confirmar si las tareas se realizaron o no.</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s" sz="1100">
                <a:solidFill>
                  <a:srgbClr val="000000"/>
                </a:solidFill>
                <a:latin typeface="Arial"/>
                <a:ea typeface="Arial"/>
                <a:cs typeface="Arial"/>
                <a:sym typeface="Arial"/>
              </a:rPr>
              <a:t>Control de insumos impreciso:</a:t>
            </a:r>
            <a:r>
              <a:rPr lang="es" sz="1100">
                <a:solidFill>
                  <a:srgbClr val="000000"/>
                </a:solidFill>
                <a:latin typeface="Arial"/>
                <a:ea typeface="Arial"/>
                <a:cs typeface="Arial"/>
                <a:sym typeface="Arial"/>
              </a:rPr>
              <a:t> Cuesta relacionar los materiales de aseo que se entregan con el uso real que se les da en cada área del instituto.</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138" name="Google Shape;138;p14" title="b9690f8d5b9d91f8c4bd01f0c3e8752b.png"/>
          <p:cNvPicPr preferRelativeResize="0"/>
          <p:nvPr/>
        </p:nvPicPr>
        <p:blipFill>
          <a:blip r:embed="rId3">
            <a:alphaModFix/>
          </a:blip>
          <a:stretch>
            <a:fillRect/>
          </a:stretch>
        </p:blipFill>
        <p:spPr>
          <a:xfrm>
            <a:off x="7196475" y="303976"/>
            <a:ext cx="1625600" cy="400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Propuesta de solución</a:t>
            </a:r>
            <a:endParaRPr/>
          </a:p>
        </p:txBody>
      </p:sp>
      <p:sp>
        <p:nvSpPr>
          <p:cNvPr id="144" name="Google Shape;144;p15"/>
          <p:cNvSpPr txBox="1"/>
          <p:nvPr>
            <p:ph idx="1" type="body"/>
          </p:nvPr>
        </p:nvSpPr>
        <p:spPr>
          <a:xfrm>
            <a:off x="819150" y="1613300"/>
            <a:ext cx="7505700" cy="2448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sz="1100">
                <a:solidFill>
                  <a:srgbClr val="000000"/>
                </a:solidFill>
                <a:latin typeface="Arial"/>
                <a:ea typeface="Arial"/>
                <a:cs typeface="Arial"/>
                <a:sym typeface="Arial"/>
              </a:rPr>
              <a:t>Se propone implementar una aplicación que permita al personal de aseo registrar cada labor una vez realizada y/o reportar alguna falta de insumo, falla, sector sucio a través de una fotografía del área en la que se deberá enviar identificando al emisor, la hora, el lugar y la fecha del reporte.</a:t>
            </a:r>
            <a:endParaRPr sz="1000"/>
          </a:p>
        </p:txBody>
      </p:sp>
      <p:pic>
        <p:nvPicPr>
          <p:cNvPr id="145" name="Google Shape;145;p15" title="b9690f8d5b9d91f8c4bd01f0c3e8752b.png"/>
          <p:cNvPicPr preferRelativeResize="0"/>
          <p:nvPr/>
        </p:nvPicPr>
        <p:blipFill>
          <a:blip r:embed="rId3">
            <a:alphaModFix/>
          </a:blip>
          <a:stretch>
            <a:fillRect/>
          </a:stretch>
        </p:blipFill>
        <p:spPr>
          <a:xfrm>
            <a:off x="7196475" y="303976"/>
            <a:ext cx="1625600" cy="400025"/>
          </a:xfrm>
          <a:prstGeom prst="rect">
            <a:avLst/>
          </a:prstGeom>
          <a:noFill/>
          <a:ln>
            <a:noFill/>
          </a:ln>
        </p:spPr>
      </p:pic>
      <p:pic>
        <p:nvPicPr>
          <p:cNvPr id="146" name="Google Shape;146;p15" title="Agregar un subtítulo (1).png"/>
          <p:cNvPicPr preferRelativeResize="0"/>
          <p:nvPr/>
        </p:nvPicPr>
        <p:blipFill>
          <a:blip r:embed="rId4">
            <a:alphaModFix/>
          </a:blip>
          <a:stretch>
            <a:fillRect/>
          </a:stretch>
        </p:blipFill>
        <p:spPr>
          <a:xfrm>
            <a:off x="2123613" y="2060938"/>
            <a:ext cx="4896773" cy="27544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Objetivo General / </a:t>
            </a:r>
            <a:r>
              <a:rPr lang="es"/>
              <a:t>Específicos</a:t>
            </a:r>
            <a:r>
              <a:rPr lang="es"/>
              <a:t>:</a:t>
            </a:r>
            <a:endParaRPr/>
          </a:p>
        </p:txBody>
      </p:sp>
      <p:sp>
        <p:nvSpPr>
          <p:cNvPr id="152" name="Google Shape;152;p16"/>
          <p:cNvSpPr txBox="1"/>
          <p:nvPr>
            <p:ph idx="1" type="body"/>
          </p:nvPr>
        </p:nvSpPr>
        <p:spPr>
          <a:xfrm>
            <a:off x="819138" y="1615875"/>
            <a:ext cx="7505700" cy="2448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rgbClr val="0B1F33"/>
              </a:buClr>
              <a:buSzPts val="1620"/>
              <a:buFont typeface="Arial"/>
              <a:buNone/>
            </a:pPr>
            <a:r>
              <a:rPr lang="es" sz="1120">
                <a:solidFill>
                  <a:srgbClr val="0B1F33"/>
                </a:solidFill>
                <a:latin typeface="Arial"/>
                <a:ea typeface="Arial"/>
                <a:cs typeface="Arial"/>
                <a:sym typeface="Arial"/>
              </a:rPr>
              <a:t>Desarrollar una aplicación móvil que permita gestionar, registrar y supervisar las labores de aseo realizadas en Duoc UC, mejorando la trazabilidad de las tareas, el control de insumos y la asignación de responsabilidades.</a:t>
            </a:r>
            <a:endParaRPr sz="800"/>
          </a:p>
        </p:txBody>
      </p:sp>
      <p:pic>
        <p:nvPicPr>
          <p:cNvPr id="153" name="Google Shape;153;p16" title="b9690f8d5b9d91f8c4bd01f0c3e8752b.png"/>
          <p:cNvPicPr preferRelativeResize="0"/>
          <p:nvPr/>
        </p:nvPicPr>
        <p:blipFill>
          <a:blip r:embed="rId3">
            <a:alphaModFix/>
          </a:blip>
          <a:stretch>
            <a:fillRect/>
          </a:stretch>
        </p:blipFill>
        <p:spPr>
          <a:xfrm>
            <a:off x="7196475" y="303976"/>
            <a:ext cx="1625600" cy="400025"/>
          </a:xfrm>
          <a:prstGeom prst="rect">
            <a:avLst/>
          </a:prstGeom>
          <a:noFill/>
          <a:ln>
            <a:noFill/>
          </a:ln>
        </p:spPr>
      </p:pic>
      <p:grpSp>
        <p:nvGrpSpPr>
          <p:cNvPr id="154" name="Google Shape;154;p16"/>
          <p:cNvGrpSpPr/>
          <p:nvPr/>
        </p:nvGrpSpPr>
        <p:grpSpPr>
          <a:xfrm>
            <a:off x="1906625" y="2348099"/>
            <a:ext cx="5124575" cy="1407601"/>
            <a:chOff x="949900" y="2716724"/>
            <a:chExt cx="5124575" cy="1407601"/>
          </a:xfrm>
        </p:grpSpPr>
        <p:sp>
          <p:nvSpPr>
            <p:cNvPr id="155" name="Google Shape;155;p16"/>
            <p:cNvSpPr/>
            <p:nvPr/>
          </p:nvSpPr>
          <p:spPr>
            <a:xfrm>
              <a:off x="949900" y="2749124"/>
              <a:ext cx="1342800" cy="1342800"/>
            </a:xfrm>
            <a:prstGeom prst="ellipse">
              <a:avLst/>
            </a:prstGeom>
            <a:solidFill>
              <a:srgbClr val="FFFFFF"/>
            </a:solidFill>
            <a:ln cap="flat" cmpd="sng" w="18650">
              <a:solidFill>
                <a:srgbClr val="00A84F"/>
              </a:solidFill>
              <a:prstDash val="solid"/>
              <a:round/>
              <a:headEnd len="sm" w="sm" type="none"/>
              <a:tailEnd len="sm" w="sm" type="none"/>
            </a:ln>
          </p:spPr>
          <p:txBody>
            <a:bodyPr anchorCtr="0" anchor="ctr" bIns="67125" lIns="67125" spcFirstLastPara="1" rIns="67125" wrap="square" tIns="67125">
              <a:noAutofit/>
            </a:bodyPr>
            <a:lstStyle/>
            <a:p>
              <a:pPr indent="0" lvl="0" marL="0" rtl="0" algn="l">
                <a:spcBef>
                  <a:spcPts val="0"/>
                </a:spcBef>
                <a:spcAft>
                  <a:spcPts val="0"/>
                </a:spcAft>
                <a:buNone/>
              </a:pPr>
              <a:r>
                <a:t/>
              </a:r>
              <a:endParaRPr/>
            </a:p>
          </p:txBody>
        </p:sp>
        <p:sp>
          <p:nvSpPr>
            <p:cNvPr id="156" name="Google Shape;156;p16"/>
            <p:cNvSpPr/>
            <p:nvPr/>
          </p:nvSpPr>
          <p:spPr>
            <a:xfrm>
              <a:off x="1050606" y="3031101"/>
              <a:ext cx="1141500" cy="34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4F"/>
                </a:buClr>
                <a:buSzPts val="2276"/>
                <a:buFont typeface="Arial"/>
                <a:buNone/>
              </a:pPr>
              <a:r>
                <a:rPr b="1" i="0" lang="es" sz="2276" u="none" cap="none" strike="noStrike">
                  <a:solidFill>
                    <a:srgbClr val="00A84F"/>
                  </a:solidFill>
                  <a:latin typeface="Arial"/>
                  <a:ea typeface="Arial"/>
                  <a:cs typeface="Arial"/>
                  <a:sym typeface="Arial"/>
                </a:rPr>
                <a:t>+20%</a:t>
              </a:r>
              <a:endParaRPr b="0" i="0" sz="2276" u="none" cap="none" strike="noStrike">
                <a:solidFill>
                  <a:srgbClr val="000000"/>
                </a:solidFill>
                <a:latin typeface="Arial"/>
                <a:ea typeface="Arial"/>
                <a:cs typeface="Arial"/>
                <a:sym typeface="Arial"/>
              </a:endParaRPr>
            </a:p>
          </p:txBody>
        </p:sp>
        <p:sp>
          <p:nvSpPr>
            <p:cNvPr id="157" name="Google Shape;157;p16"/>
            <p:cNvSpPr/>
            <p:nvPr/>
          </p:nvSpPr>
          <p:spPr>
            <a:xfrm>
              <a:off x="1097602" y="3454067"/>
              <a:ext cx="1047300" cy="36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3"/>
                </a:buClr>
                <a:buSzPts val="771"/>
                <a:buFont typeface="Arial"/>
                <a:buNone/>
              </a:pPr>
              <a:r>
                <a:rPr b="1" lang="es" sz="771">
                  <a:solidFill>
                    <a:srgbClr val="0B1F33"/>
                  </a:solidFill>
                </a:rPr>
                <a:t>P</a:t>
              </a:r>
              <a:r>
                <a:rPr b="1" i="0" lang="es" sz="771" u="none" cap="none" strike="noStrike">
                  <a:solidFill>
                    <a:srgbClr val="0B1F33"/>
                  </a:solidFill>
                  <a:latin typeface="Arial"/>
                  <a:ea typeface="Arial"/>
                  <a:cs typeface="Arial"/>
                  <a:sym typeface="Arial"/>
                </a:rPr>
                <a:t>roductividad de trabajadores</a:t>
              </a:r>
              <a:endParaRPr b="0" i="0" sz="771" u="none" cap="none" strike="noStrike">
                <a:solidFill>
                  <a:srgbClr val="000000"/>
                </a:solidFill>
                <a:latin typeface="Arial"/>
                <a:ea typeface="Arial"/>
                <a:cs typeface="Arial"/>
                <a:sym typeface="Arial"/>
              </a:endParaRPr>
            </a:p>
          </p:txBody>
        </p:sp>
        <p:sp>
          <p:nvSpPr>
            <p:cNvPr id="158" name="Google Shape;158;p16"/>
            <p:cNvSpPr/>
            <p:nvPr/>
          </p:nvSpPr>
          <p:spPr>
            <a:xfrm>
              <a:off x="2775990" y="2716724"/>
              <a:ext cx="1407600" cy="1407600"/>
            </a:xfrm>
            <a:prstGeom prst="ellipse">
              <a:avLst/>
            </a:prstGeom>
            <a:solidFill>
              <a:srgbClr val="FFFFFF"/>
            </a:solidFill>
            <a:ln cap="flat" cmpd="sng" w="19550">
              <a:solidFill>
                <a:srgbClr val="E45757"/>
              </a:solidFill>
              <a:prstDash val="solid"/>
              <a:round/>
              <a:headEnd len="sm" w="sm" type="none"/>
              <a:tailEnd len="sm" w="sm" type="none"/>
            </a:ln>
          </p:spPr>
          <p:txBody>
            <a:bodyPr anchorCtr="0" anchor="ctr" bIns="70375" lIns="70375" spcFirstLastPara="1" rIns="70375" wrap="square" tIns="70375">
              <a:noAutofit/>
            </a:bodyPr>
            <a:lstStyle/>
            <a:p>
              <a:pPr indent="0" lvl="0" marL="0" rtl="0" algn="l">
                <a:spcBef>
                  <a:spcPts val="0"/>
                </a:spcBef>
                <a:spcAft>
                  <a:spcPts val="0"/>
                </a:spcAft>
                <a:buNone/>
              </a:pPr>
              <a:r>
                <a:t/>
              </a:r>
              <a:endParaRPr/>
            </a:p>
          </p:txBody>
        </p:sp>
        <p:sp>
          <p:nvSpPr>
            <p:cNvPr id="159" name="Google Shape;159;p16"/>
            <p:cNvSpPr/>
            <p:nvPr/>
          </p:nvSpPr>
          <p:spPr>
            <a:xfrm>
              <a:off x="2881562" y="3012325"/>
              <a:ext cx="1196700" cy="36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45757"/>
                </a:buClr>
                <a:buSzPts val="2386"/>
                <a:buFont typeface="Arial"/>
                <a:buNone/>
              </a:pPr>
              <a:r>
                <a:rPr b="1" i="0" lang="es" sz="2386" u="none" cap="none" strike="noStrike">
                  <a:solidFill>
                    <a:srgbClr val="E45757"/>
                  </a:solidFill>
                  <a:latin typeface="Arial"/>
                  <a:ea typeface="Arial"/>
                  <a:cs typeface="Arial"/>
                  <a:sym typeface="Arial"/>
                </a:rPr>
                <a:t>-60%</a:t>
              </a:r>
              <a:endParaRPr b="0" i="0" sz="2386" u="none" cap="none" strike="noStrike">
                <a:solidFill>
                  <a:srgbClr val="000000"/>
                </a:solidFill>
                <a:latin typeface="Arial"/>
                <a:ea typeface="Arial"/>
                <a:cs typeface="Arial"/>
                <a:sym typeface="Arial"/>
              </a:endParaRPr>
            </a:p>
          </p:txBody>
        </p:sp>
        <p:sp>
          <p:nvSpPr>
            <p:cNvPr id="160" name="Google Shape;160;p16"/>
            <p:cNvSpPr/>
            <p:nvPr/>
          </p:nvSpPr>
          <p:spPr>
            <a:xfrm>
              <a:off x="2930829" y="3455727"/>
              <a:ext cx="1098000" cy="38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3"/>
                </a:buClr>
                <a:buSzPts val="808"/>
                <a:buFont typeface="Arial"/>
                <a:buNone/>
              </a:pPr>
              <a:r>
                <a:rPr b="1" lang="es" sz="808">
                  <a:solidFill>
                    <a:srgbClr val="0B1F33"/>
                  </a:solidFill>
                </a:rPr>
                <a:t>R</a:t>
              </a:r>
              <a:r>
                <a:rPr b="1" i="0" lang="es" sz="808" u="none" cap="none" strike="noStrike">
                  <a:solidFill>
                    <a:srgbClr val="0B1F33"/>
                  </a:solidFill>
                  <a:latin typeface="Arial"/>
                  <a:ea typeface="Arial"/>
                  <a:cs typeface="Arial"/>
                  <a:sym typeface="Arial"/>
                </a:rPr>
                <a:t>eclamos por áreas sucias</a:t>
              </a:r>
              <a:endParaRPr b="0" i="0" sz="808" u="none" cap="none" strike="noStrike">
                <a:solidFill>
                  <a:srgbClr val="000000"/>
                </a:solidFill>
                <a:latin typeface="Arial"/>
                <a:ea typeface="Arial"/>
                <a:cs typeface="Arial"/>
                <a:sym typeface="Arial"/>
              </a:endParaRPr>
            </a:p>
          </p:txBody>
        </p:sp>
        <p:sp>
          <p:nvSpPr>
            <p:cNvPr id="161" name="Google Shape;161;p16"/>
            <p:cNvSpPr/>
            <p:nvPr/>
          </p:nvSpPr>
          <p:spPr>
            <a:xfrm>
              <a:off x="4666875" y="2716725"/>
              <a:ext cx="1407600" cy="1407600"/>
            </a:xfrm>
            <a:prstGeom prst="ellipse">
              <a:avLst/>
            </a:prstGeom>
            <a:solidFill>
              <a:srgbClr val="FFFFFF"/>
            </a:solidFill>
            <a:ln cap="flat" cmpd="sng" w="19550">
              <a:solidFill>
                <a:srgbClr val="1F4E78"/>
              </a:solidFill>
              <a:prstDash val="solid"/>
              <a:round/>
              <a:headEnd len="sm" w="sm" type="none"/>
              <a:tailEnd len="sm" w="sm" type="none"/>
            </a:ln>
          </p:spPr>
          <p:txBody>
            <a:bodyPr anchorCtr="0" anchor="ctr" bIns="70375" lIns="70375" spcFirstLastPara="1" rIns="70375" wrap="square" tIns="70375">
              <a:noAutofit/>
            </a:bodyPr>
            <a:lstStyle/>
            <a:p>
              <a:pPr indent="0" lvl="0" marL="0" rtl="0" algn="l">
                <a:spcBef>
                  <a:spcPts val="0"/>
                </a:spcBef>
                <a:spcAft>
                  <a:spcPts val="0"/>
                </a:spcAft>
                <a:buNone/>
              </a:pPr>
              <a:r>
                <a:t/>
              </a:r>
              <a:endParaRPr/>
            </a:p>
          </p:txBody>
        </p:sp>
        <p:sp>
          <p:nvSpPr>
            <p:cNvPr id="162" name="Google Shape;162;p16"/>
            <p:cNvSpPr/>
            <p:nvPr/>
          </p:nvSpPr>
          <p:spPr>
            <a:xfrm>
              <a:off x="4772445" y="3012321"/>
              <a:ext cx="1196400" cy="36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8"/>
                </a:buClr>
                <a:buSzPts val="2386"/>
                <a:buFont typeface="Arial"/>
                <a:buNone/>
              </a:pPr>
              <a:r>
                <a:rPr b="1" i="0" lang="es" sz="2386" u="none" cap="none" strike="noStrike">
                  <a:solidFill>
                    <a:srgbClr val="1F4E78"/>
                  </a:solidFill>
                  <a:latin typeface="Arial"/>
                  <a:ea typeface="Arial"/>
                  <a:cs typeface="Arial"/>
                  <a:sym typeface="Arial"/>
                </a:rPr>
                <a:t>-70%</a:t>
              </a:r>
              <a:endParaRPr b="0" i="0" sz="2386" u="none" cap="none" strike="noStrike">
                <a:solidFill>
                  <a:srgbClr val="000000"/>
                </a:solidFill>
                <a:latin typeface="Arial"/>
                <a:ea typeface="Arial"/>
                <a:cs typeface="Arial"/>
                <a:sym typeface="Arial"/>
              </a:endParaRPr>
            </a:p>
          </p:txBody>
        </p:sp>
        <p:sp>
          <p:nvSpPr>
            <p:cNvPr id="163" name="Google Shape;163;p16"/>
            <p:cNvSpPr/>
            <p:nvPr/>
          </p:nvSpPr>
          <p:spPr>
            <a:xfrm>
              <a:off x="4821711" y="3455715"/>
              <a:ext cx="1098000" cy="38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3"/>
                </a:buClr>
                <a:buSzPts val="808"/>
                <a:buFont typeface="Arial"/>
                <a:buNone/>
              </a:pPr>
              <a:r>
                <a:rPr b="1" lang="es" sz="808">
                  <a:solidFill>
                    <a:srgbClr val="0B1F33"/>
                  </a:solidFill>
                </a:rPr>
                <a:t>T</a:t>
              </a:r>
              <a:r>
                <a:rPr b="1" i="0" lang="es" sz="808" u="none" cap="none" strike="noStrike">
                  <a:solidFill>
                    <a:srgbClr val="0B1F33"/>
                  </a:solidFill>
                  <a:latin typeface="Arial"/>
                  <a:ea typeface="Arial"/>
                  <a:cs typeface="Arial"/>
                  <a:sym typeface="Arial"/>
                </a:rPr>
                <a:t>iempo de reposición de insumos</a:t>
              </a:r>
              <a:endParaRPr b="0" i="0" sz="808" u="none" cap="none" strike="noStrike">
                <a:solidFill>
                  <a:srgbClr val="000000"/>
                </a:solidFill>
                <a:latin typeface="Arial"/>
                <a:ea typeface="Arial"/>
                <a:cs typeface="Arial"/>
                <a:sym typeface="Arial"/>
              </a:endParaRPr>
            </a:p>
          </p:txBody>
        </p:sp>
      </p:grpSp>
      <p:sp>
        <p:nvSpPr>
          <p:cNvPr id="164" name="Google Shape;164;p16"/>
          <p:cNvSpPr txBox="1"/>
          <p:nvPr/>
        </p:nvSpPr>
        <p:spPr>
          <a:xfrm>
            <a:off x="603713" y="3900300"/>
            <a:ext cx="7730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100">
                <a:solidFill>
                  <a:srgbClr val="0B1F33"/>
                </a:solidFill>
              </a:rPr>
              <a:t>Estos objetivos se medirán comparando la situación posterior a la implementación con la forma de trabajo actual.</a:t>
            </a:r>
            <a:endParaRPr sz="1100">
              <a:solidFill>
                <a:srgbClr val="0B1F3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Alcances:</a:t>
            </a:r>
            <a:endParaRPr/>
          </a:p>
        </p:txBody>
      </p:sp>
      <p:sp>
        <p:nvSpPr>
          <p:cNvPr id="170" name="Google Shape;170;p17"/>
          <p:cNvSpPr txBox="1"/>
          <p:nvPr>
            <p:ph idx="1" type="body"/>
          </p:nvPr>
        </p:nvSpPr>
        <p:spPr>
          <a:xfrm>
            <a:off x="473488" y="1985325"/>
            <a:ext cx="2640000" cy="2458500"/>
          </a:xfrm>
          <a:prstGeom prst="rect">
            <a:avLst/>
          </a:prstGeom>
        </p:spPr>
        <p:txBody>
          <a:bodyPr anchorCtr="0" anchor="t" bIns="91425" lIns="91425" spcFirstLastPara="1" rIns="91425" wrap="square" tIns="91425">
            <a:normAutofit/>
          </a:bodyPr>
          <a:lstStyle/>
          <a:p>
            <a:pPr indent="0" lvl="0" marL="457200" rtl="0" algn="l">
              <a:lnSpc>
                <a:spcPct val="90000"/>
              </a:lnSpc>
              <a:spcBef>
                <a:spcPts val="0"/>
              </a:spcBef>
              <a:spcAft>
                <a:spcPts val="0"/>
              </a:spcAft>
              <a:buNone/>
            </a:pPr>
            <a:r>
              <a:rPr b="1" lang="es" sz="1100">
                <a:solidFill>
                  <a:srgbClr val="2E3A40"/>
                </a:solidFill>
                <a:latin typeface="Arial"/>
                <a:ea typeface="Arial"/>
                <a:cs typeface="Arial"/>
                <a:sym typeface="Arial"/>
              </a:rPr>
              <a:t>Registro Operativo</a:t>
            </a:r>
            <a:endParaRPr sz="1100">
              <a:solidFill>
                <a:srgbClr val="2E3A40"/>
              </a:solidFill>
              <a:latin typeface="Arial"/>
              <a:ea typeface="Arial"/>
              <a:cs typeface="Arial"/>
              <a:sym typeface="Arial"/>
            </a:endParaRPr>
          </a:p>
          <a:p>
            <a:pPr indent="0" lvl="0" marL="457200" rtl="0" algn="l">
              <a:lnSpc>
                <a:spcPct val="90000"/>
              </a:lnSpc>
              <a:spcBef>
                <a:spcPts val="0"/>
              </a:spcBef>
              <a:spcAft>
                <a:spcPts val="0"/>
              </a:spcAft>
              <a:buNone/>
            </a:pPr>
            <a:r>
              <a:t/>
            </a:r>
            <a:endParaRPr sz="1100">
              <a:solidFill>
                <a:srgbClr val="2E3A40"/>
              </a:solidFill>
              <a:latin typeface="Arial"/>
              <a:ea typeface="Arial"/>
              <a:cs typeface="Arial"/>
              <a:sym typeface="Arial"/>
            </a:endParaRPr>
          </a:p>
          <a:p>
            <a:pPr indent="-298450" lvl="0" marL="457200" rtl="0" algn="l">
              <a:lnSpc>
                <a:spcPct val="90000"/>
              </a:lnSpc>
              <a:spcBef>
                <a:spcPts val="0"/>
              </a:spcBef>
              <a:spcAft>
                <a:spcPts val="0"/>
              </a:spcAft>
              <a:buClr>
                <a:srgbClr val="2E3A40"/>
              </a:buClr>
              <a:buSzPts val="1100"/>
              <a:buFont typeface="Arial"/>
              <a:buChar char="●"/>
            </a:pPr>
            <a:r>
              <a:rPr lang="es" sz="1100">
                <a:solidFill>
                  <a:srgbClr val="2E3A40"/>
                </a:solidFill>
                <a:latin typeface="Arial"/>
                <a:ea typeface="Arial"/>
                <a:cs typeface="Arial"/>
                <a:sym typeface="Arial"/>
              </a:rPr>
              <a:t>Identificación automática del trabajador</a:t>
            </a:r>
            <a:endParaRPr sz="1100">
              <a:solidFill>
                <a:srgbClr val="2E3A40"/>
              </a:solidFill>
              <a:latin typeface="Arial"/>
              <a:ea typeface="Arial"/>
              <a:cs typeface="Arial"/>
              <a:sym typeface="Arial"/>
            </a:endParaRPr>
          </a:p>
          <a:p>
            <a:pPr indent="0" lvl="0" marL="457200" rtl="0" algn="l">
              <a:lnSpc>
                <a:spcPct val="90000"/>
              </a:lnSpc>
              <a:spcBef>
                <a:spcPts val="0"/>
              </a:spcBef>
              <a:spcAft>
                <a:spcPts val="0"/>
              </a:spcAft>
              <a:buNone/>
            </a:pPr>
            <a:r>
              <a:t/>
            </a:r>
            <a:endParaRPr sz="1100">
              <a:solidFill>
                <a:srgbClr val="2E3A40"/>
              </a:solidFill>
              <a:latin typeface="Arial"/>
              <a:ea typeface="Arial"/>
              <a:cs typeface="Arial"/>
              <a:sym typeface="Arial"/>
            </a:endParaRPr>
          </a:p>
          <a:p>
            <a:pPr indent="-298450" lvl="0" marL="457200" rtl="0" algn="l">
              <a:lnSpc>
                <a:spcPct val="90000"/>
              </a:lnSpc>
              <a:spcBef>
                <a:spcPts val="0"/>
              </a:spcBef>
              <a:spcAft>
                <a:spcPts val="0"/>
              </a:spcAft>
              <a:buClr>
                <a:srgbClr val="2E3A40"/>
              </a:buClr>
              <a:buSzPts val="1100"/>
              <a:buFont typeface="Arial"/>
              <a:buChar char="●"/>
            </a:pPr>
            <a:r>
              <a:rPr lang="es" sz="1100">
                <a:solidFill>
                  <a:srgbClr val="2E3A40"/>
                </a:solidFill>
                <a:latin typeface="Arial"/>
                <a:ea typeface="Arial"/>
                <a:cs typeface="Arial"/>
                <a:sym typeface="Arial"/>
              </a:rPr>
              <a:t>Identificación de sectores mediante NFC</a:t>
            </a:r>
            <a:endParaRPr sz="1100">
              <a:solidFill>
                <a:srgbClr val="2E3A40"/>
              </a:solidFill>
              <a:latin typeface="Arial"/>
              <a:ea typeface="Arial"/>
              <a:cs typeface="Arial"/>
              <a:sym typeface="Arial"/>
            </a:endParaRPr>
          </a:p>
          <a:p>
            <a:pPr indent="0" lvl="0" marL="457200" rtl="0" algn="l">
              <a:lnSpc>
                <a:spcPct val="90000"/>
              </a:lnSpc>
              <a:spcBef>
                <a:spcPts val="0"/>
              </a:spcBef>
              <a:spcAft>
                <a:spcPts val="0"/>
              </a:spcAft>
              <a:buNone/>
            </a:pPr>
            <a:r>
              <a:t/>
            </a:r>
            <a:endParaRPr sz="1100">
              <a:solidFill>
                <a:srgbClr val="2E3A40"/>
              </a:solidFill>
              <a:latin typeface="Arial"/>
              <a:ea typeface="Arial"/>
              <a:cs typeface="Arial"/>
              <a:sym typeface="Arial"/>
            </a:endParaRPr>
          </a:p>
          <a:p>
            <a:pPr indent="-298450" lvl="0" marL="457200" rtl="0" algn="l">
              <a:lnSpc>
                <a:spcPct val="90000"/>
              </a:lnSpc>
              <a:spcBef>
                <a:spcPts val="0"/>
              </a:spcBef>
              <a:spcAft>
                <a:spcPts val="0"/>
              </a:spcAft>
              <a:buClr>
                <a:srgbClr val="2E3A40"/>
              </a:buClr>
              <a:buSzPts val="1100"/>
              <a:buFont typeface="Arial"/>
              <a:buChar char="●"/>
            </a:pPr>
            <a:r>
              <a:rPr lang="es" sz="1100">
                <a:solidFill>
                  <a:srgbClr val="2E3A40"/>
                </a:solidFill>
                <a:latin typeface="Arial"/>
                <a:ea typeface="Arial"/>
                <a:cs typeface="Arial"/>
                <a:sym typeface="Arial"/>
              </a:rPr>
              <a:t>Registro automático de fecha y hora</a:t>
            </a:r>
            <a:endParaRPr sz="1100">
              <a:solidFill>
                <a:srgbClr val="2E3A40"/>
              </a:solidFill>
              <a:latin typeface="Arial"/>
              <a:ea typeface="Arial"/>
              <a:cs typeface="Arial"/>
              <a:sym typeface="Arial"/>
            </a:endParaRPr>
          </a:p>
          <a:p>
            <a:pPr indent="0" lvl="0" marL="457200" rtl="0" algn="l">
              <a:lnSpc>
                <a:spcPct val="90000"/>
              </a:lnSpc>
              <a:spcBef>
                <a:spcPts val="0"/>
              </a:spcBef>
              <a:spcAft>
                <a:spcPts val="0"/>
              </a:spcAft>
              <a:buNone/>
            </a:pPr>
            <a:r>
              <a:t/>
            </a:r>
            <a:endParaRPr sz="1100">
              <a:solidFill>
                <a:srgbClr val="2E3A40"/>
              </a:solidFill>
              <a:latin typeface="Arial"/>
              <a:ea typeface="Arial"/>
              <a:cs typeface="Arial"/>
              <a:sym typeface="Arial"/>
            </a:endParaRPr>
          </a:p>
          <a:p>
            <a:pPr indent="0" lvl="0" marL="0" rtl="0" algn="l">
              <a:lnSpc>
                <a:spcPct val="90000"/>
              </a:lnSpc>
              <a:spcBef>
                <a:spcPts val="0"/>
              </a:spcBef>
              <a:spcAft>
                <a:spcPts val="0"/>
              </a:spcAft>
              <a:buNone/>
            </a:pPr>
            <a:r>
              <a:t/>
            </a:r>
            <a:endParaRPr sz="1100"/>
          </a:p>
        </p:txBody>
      </p:sp>
      <p:pic>
        <p:nvPicPr>
          <p:cNvPr id="171" name="Google Shape;171;p17" title="b9690f8d5b9d91f8c4bd01f0c3e8752b.png"/>
          <p:cNvPicPr preferRelativeResize="0"/>
          <p:nvPr/>
        </p:nvPicPr>
        <p:blipFill>
          <a:blip r:embed="rId3">
            <a:alphaModFix/>
          </a:blip>
          <a:stretch>
            <a:fillRect/>
          </a:stretch>
        </p:blipFill>
        <p:spPr>
          <a:xfrm>
            <a:off x="7196475" y="303976"/>
            <a:ext cx="1625600" cy="400025"/>
          </a:xfrm>
          <a:prstGeom prst="rect">
            <a:avLst/>
          </a:prstGeom>
          <a:noFill/>
          <a:ln>
            <a:noFill/>
          </a:ln>
        </p:spPr>
      </p:pic>
      <p:sp>
        <p:nvSpPr>
          <p:cNvPr id="172" name="Google Shape;172;p17"/>
          <p:cNvSpPr txBox="1"/>
          <p:nvPr>
            <p:ph idx="1" type="body"/>
          </p:nvPr>
        </p:nvSpPr>
        <p:spPr>
          <a:xfrm>
            <a:off x="3113488" y="1985325"/>
            <a:ext cx="2640000" cy="2458500"/>
          </a:xfrm>
          <a:prstGeom prst="rect">
            <a:avLst/>
          </a:prstGeom>
        </p:spPr>
        <p:txBody>
          <a:bodyPr anchorCtr="0" anchor="t" bIns="91425" lIns="91425" spcFirstLastPara="1" rIns="91425" wrap="square" tIns="91425">
            <a:normAutofit/>
          </a:bodyPr>
          <a:lstStyle/>
          <a:p>
            <a:pPr indent="0" lvl="0" marL="457200" rtl="0" algn="l">
              <a:lnSpc>
                <a:spcPct val="90000"/>
              </a:lnSpc>
              <a:spcBef>
                <a:spcPts val="0"/>
              </a:spcBef>
              <a:spcAft>
                <a:spcPts val="0"/>
              </a:spcAft>
              <a:buNone/>
            </a:pPr>
            <a:r>
              <a:rPr b="1" lang="es" sz="1100">
                <a:solidFill>
                  <a:srgbClr val="2E3A40"/>
                </a:solidFill>
                <a:latin typeface="Arial"/>
                <a:ea typeface="Arial"/>
                <a:cs typeface="Arial"/>
                <a:sym typeface="Arial"/>
              </a:rPr>
              <a:t>Evidencia y consulta</a:t>
            </a:r>
            <a:endParaRPr b="1" sz="1100">
              <a:solidFill>
                <a:srgbClr val="2E3A40"/>
              </a:solidFill>
              <a:latin typeface="Arial"/>
              <a:ea typeface="Arial"/>
              <a:cs typeface="Arial"/>
              <a:sym typeface="Arial"/>
            </a:endParaRPr>
          </a:p>
          <a:p>
            <a:pPr indent="0" lvl="0" marL="457200" rtl="0" algn="l">
              <a:lnSpc>
                <a:spcPct val="90000"/>
              </a:lnSpc>
              <a:spcBef>
                <a:spcPts val="0"/>
              </a:spcBef>
              <a:spcAft>
                <a:spcPts val="0"/>
              </a:spcAft>
              <a:buNone/>
            </a:pPr>
            <a:r>
              <a:t/>
            </a:r>
            <a:endParaRPr sz="1100">
              <a:solidFill>
                <a:srgbClr val="2E3A40"/>
              </a:solidFill>
              <a:latin typeface="Arial"/>
              <a:ea typeface="Arial"/>
              <a:cs typeface="Arial"/>
              <a:sym typeface="Arial"/>
            </a:endParaRPr>
          </a:p>
          <a:p>
            <a:pPr indent="-298450" lvl="0" marL="457200" rtl="0" algn="l">
              <a:lnSpc>
                <a:spcPct val="100000"/>
              </a:lnSpc>
              <a:spcBef>
                <a:spcPts val="0"/>
              </a:spcBef>
              <a:spcAft>
                <a:spcPts val="0"/>
              </a:spcAft>
              <a:buClr>
                <a:srgbClr val="2E3A40"/>
              </a:buClr>
              <a:buSzPts val="1100"/>
              <a:buFont typeface="Arial"/>
              <a:buChar char="●"/>
            </a:pPr>
            <a:r>
              <a:rPr lang="es" sz="1080">
                <a:solidFill>
                  <a:srgbClr val="2E3A40"/>
                </a:solidFill>
                <a:latin typeface="Arial"/>
                <a:ea typeface="Arial"/>
                <a:cs typeface="Arial"/>
                <a:sym typeface="Arial"/>
              </a:rPr>
              <a:t>Observaciones en texto libre</a:t>
            </a:r>
            <a:endParaRPr sz="1080">
              <a:solidFill>
                <a:srgbClr val="2E3A40"/>
              </a:solidFill>
              <a:latin typeface="Arial"/>
              <a:ea typeface="Arial"/>
              <a:cs typeface="Arial"/>
              <a:sym typeface="Arial"/>
            </a:endParaRPr>
          </a:p>
          <a:p>
            <a:pPr indent="0" lvl="0" marL="457200" rtl="0" algn="l">
              <a:lnSpc>
                <a:spcPct val="100000"/>
              </a:lnSpc>
              <a:spcBef>
                <a:spcPts val="0"/>
              </a:spcBef>
              <a:spcAft>
                <a:spcPts val="0"/>
              </a:spcAft>
              <a:buNone/>
            </a:pPr>
            <a:r>
              <a:t/>
            </a:r>
            <a:endParaRPr sz="1080">
              <a:solidFill>
                <a:srgbClr val="2E3A40"/>
              </a:solidFill>
              <a:latin typeface="Arial"/>
              <a:ea typeface="Arial"/>
              <a:cs typeface="Arial"/>
              <a:sym typeface="Arial"/>
            </a:endParaRPr>
          </a:p>
          <a:p>
            <a:pPr indent="-298450" lvl="0" marL="457200" rtl="0" algn="l">
              <a:lnSpc>
                <a:spcPct val="100000"/>
              </a:lnSpc>
              <a:spcBef>
                <a:spcPts val="0"/>
              </a:spcBef>
              <a:spcAft>
                <a:spcPts val="0"/>
              </a:spcAft>
              <a:buClr>
                <a:srgbClr val="2E3A40"/>
              </a:buClr>
              <a:buSzPts val="1100"/>
              <a:buFont typeface="Arial"/>
              <a:buChar char="●"/>
            </a:pPr>
            <a:r>
              <a:rPr lang="es" sz="1080">
                <a:solidFill>
                  <a:srgbClr val="2E3A40"/>
                </a:solidFill>
                <a:latin typeface="Arial"/>
                <a:ea typeface="Arial"/>
                <a:cs typeface="Arial"/>
                <a:sym typeface="Arial"/>
              </a:rPr>
              <a:t>Captura de fotografías</a:t>
            </a:r>
            <a:endParaRPr sz="1080">
              <a:solidFill>
                <a:srgbClr val="2E3A40"/>
              </a:solidFill>
              <a:latin typeface="Arial"/>
              <a:ea typeface="Arial"/>
              <a:cs typeface="Arial"/>
              <a:sym typeface="Arial"/>
            </a:endParaRPr>
          </a:p>
          <a:p>
            <a:pPr indent="0" lvl="0" marL="457200" rtl="0" algn="l">
              <a:lnSpc>
                <a:spcPct val="100000"/>
              </a:lnSpc>
              <a:spcBef>
                <a:spcPts val="0"/>
              </a:spcBef>
              <a:spcAft>
                <a:spcPts val="0"/>
              </a:spcAft>
              <a:buNone/>
            </a:pPr>
            <a:r>
              <a:t/>
            </a:r>
            <a:endParaRPr sz="1080">
              <a:solidFill>
                <a:srgbClr val="2E3A40"/>
              </a:solidFill>
              <a:latin typeface="Arial"/>
              <a:ea typeface="Arial"/>
              <a:cs typeface="Arial"/>
              <a:sym typeface="Arial"/>
            </a:endParaRPr>
          </a:p>
          <a:p>
            <a:pPr indent="-298450" lvl="0" marL="457200" rtl="0" algn="l">
              <a:lnSpc>
                <a:spcPct val="100000"/>
              </a:lnSpc>
              <a:spcBef>
                <a:spcPts val="0"/>
              </a:spcBef>
              <a:spcAft>
                <a:spcPts val="0"/>
              </a:spcAft>
              <a:buClr>
                <a:srgbClr val="2E3A40"/>
              </a:buClr>
              <a:buSzPts val="1100"/>
              <a:buFont typeface="Arial"/>
              <a:buChar char="●"/>
            </a:pPr>
            <a:r>
              <a:rPr lang="es" sz="1080">
                <a:solidFill>
                  <a:srgbClr val="2E3A40"/>
                </a:solidFill>
                <a:latin typeface="Arial"/>
                <a:ea typeface="Arial"/>
                <a:cs typeface="Arial"/>
                <a:sym typeface="Arial"/>
              </a:rPr>
              <a:t>Geolocalización del registro</a:t>
            </a:r>
            <a:endParaRPr sz="1080">
              <a:solidFill>
                <a:srgbClr val="2E3A40"/>
              </a:solidFill>
              <a:latin typeface="Arial"/>
              <a:ea typeface="Arial"/>
              <a:cs typeface="Arial"/>
              <a:sym typeface="Arial"/>
            </a:endParaRPr>
          </a:p>
          <a:p>
            <a:pPr indent="0" lvl="0" marL="457200" rtl="0" algn="l">
              <a:lnSpc>
                <a:spcPct val="100000"/>
              </a:lnSpc>
              <a:spcBef>
                <a:spcPts val="0"/>
              </a:spcBef>
              <a:spcAft>
                <a:spcPts val="0"/>
              </a:spcAft>
              <a:buNone/>
            </a:pPr>
            <a:r>
              <a:t/>
            </a:r>
            <a:endParaRPr sz="1080">
              <a:solidFill>
                <a:srgbClr val="2E3A40"/>
              </a:solidFill>
              <a:latin typeface="Arial"/>
              <a:ea typeface="Arial"/>
              <a:cs typeface="Arial"/>
              <a:sym typeface="Arial"/>
            </a:endParaRPr>
          </a:p>
          <a:p>
            <a:pPr indent="-298450" lvl="0" marL="457200" rtl="0" algn="l">
              <a:lnSpc>
                <a:spcPct val="100000"/>
              </a:lnSpc>
              <a:spcBef>
                <a:spcPts val="0"/>
              </a:spcBef>
              <a:spcAft>
                <a:spcPts val="0"/>
              </a:spcAft>
              <a:buClr>
                <a:srgbClr val="2E3A40"/>
              </a:buClr>
              <a:buSzPts val="1100"/>
              <a:buFont typeface="Arial"/>
              <a:buChar char="●"/>
            </a:pPr>
            <a:r>
              <a:rPr lang="es" sz="1080">
                <a:solidFill>
                  <a:srgbClr val="2E3A40"/>
                </a:solidFill>
                <a:latin typeface="Arial"/>
                <a:ea typeface="Arial"/>
                <a:cs typeface="Arial"/>
                <a:sym typeface="Arial"/>
              </a:rPr>
              <a:t>Consulta de historial por sector</a:t>
            </a:r>
            <a:endParaRPr sz="1100">
              <a:solidFill>
                <a:srgbClr val="2E3A40"/>
              </a:solidFill>
              <a:latin typeface="Arial"/>
              <a:ea typeface="Arial"/>
              <a:cs typeface="Arial"/>
              <a:sym typeface="Arial"/>
            </a:endParaRPr>
          </a:p>
        </p:txBody>
      </p:sp>
      <p:sp>
        <p:nvSpPr>
          <p:cNvPr id="173" name="Google Shape;173;p17"/>
          <p:cNvSpPr txBox="1"/>
          <p:nvPr>
            <p:ph idx="1" type="body"/>
          </p:nvPr>
        </p:nvSpPr>
        <p:spPr>
          <a:xfrm>
            <a:off x="5684863" y="1985325"/>
            <a:ext cx="2640000" cy="2458500"/>
          </a:xfrm>
          <a:prstGeom prst="rect">
            <a:avLst/>
          </a:prstGeom>
        </p:spPr>
        <p:txBody>
          <a:bodyPr anchorCtr="0" anchor="t" bIns="91425" lIns="91425" spcFirstLastPara="1" rIns="91425" wrap="square" tIns="91425">
            <a:normAutofit lnSpcReduction="20000"/>
          </a:bodyPr>
          <a:lstStyle/>
          <a:p>
            <a:pPr indent="0" lvl="0" marL="457200" rtl="0" algn="l">
              <a:lnSpc>
                <a:spcPct val="90000"/>
              </a:lnSpc>
              <a:spcBef>
                <a:spcPts val="0"/>
              </a:spcBef>
              <a:spcAft>
                <a:spcPts val="0"/>
              </a:spcAft>
              <a:buNone/>
            </a:pPr>
            <a:r>
              <a:rPr b="1" lang="es" sz="1100">
                <a:solidFill>
                  <a:srgbClr val="2E3A40"/>
                </a:solidFill>
                <a:latin typeface="Arial"/>
                <a:ea typeface="Arial"/>
                <a:cs typeface="Arial"/>
                <a:sym typeface="Arial"/>
              </a:rPr>
              <a:t>Supervisión</a:t>
            </a:r>
            <a:r>
              <a:rPr b="1" lang="es" sz="1100">
                <a:solidFill>
                  <a:srgbClr val="2E3A40"/>
                </a:solidFill>
                <a:latin typeface="Arial"/>
                <a:ea typeface="Arial"/>
                <a:cs typeface="Arial"/>
                <a:sym typeface="Arial"/>
              </a:rPr>
              <a:t> y continuidad</a:t>
            </a:r>
            <a:endParaRPr b="1" sz="1100">
              <a:solidFill>
                <a:srgbClr val="2E3A40"/>
              </a:solidFill>
              <a:latin typeface="Arial"/>
              <a:ea typeface="Arial"/>
              <a:cs typeface="Arial"/>
              <a:sym typeface="Arial"/>
            </a:endParaRPr>
          </a:p>
          <a:p>
            <a:pPr indent="0" lvl="0" marL="457200" rtl="0" algn="l">
              <a:lnSpc>
                <a:spcPct val="90000"/>
              </a:lnSpc>
              <a:spcBef>
                <a:spcPts val="0"/>
              </a:spcBef>
              <a:spcAft>
                <a:spcPts val="0"/>
              </a:spcAft>
              <a:buNone/>
            </a:pPr>
            <a:r>
              <a:t/>
            </a:r>
            <a:endParaRPr sz="1100">
              <a:solidFill>
                <a:srgbClr val="2E3A40"/>
              </a:solidFill>
              <a:latin typeface="Arial"/>
              <a:ea typeface="Arial"/>
              <a:cs typeface="Arial"/>
              <a:sym typeface="Arial"/>
            </a:endParaRPr>
          </a:p>
          <a:p>
            <a:pPr indent="-298450" lvl="0" marL="457200" rtl="0" algn="l">
              <a:lnSpc>
                <a:spcPct val="100000"/>
              </a:lnSpc>
              <a:spcBef>
                <a:spcPts val="0"/>
              </a:spcBef>
              <a:spcAft>
                <a:spcPts val="0"/>
              </a:spcAft>
              <a:buClr>
                <a:srgbClr val="2E3A40"/>
              </a:buClr>
              <a:buSzPts val="1100"/>
              <a:buFont typeface="Arial"/>
              <a:buChar char="●"/>
            </a:pPr>
            <a:r>
              <a:rPr lang="es" sz="1080">
                <a:solidFill>
                  <a:srgbClr val="2E3A40"/>
                </a:solidFill>
                <a:latin typeface="Arial"/>
                <a:ea typeface="Arial"/>
                <a:cs typeface="Arial"/>
                <a:sym typeface="Arial"/>
              </a:rPr>
              <a:t>Información disponible al instante para </a:t>
            </a:r>
            <a:r>
              <a:rPr lang="es" sz="1080">
                <a:solidFill>
                  <a:srgbClr val="2E3A40"/>
                </a:solidFill>
                <a:latin typeface="Arial"/>
                <a:ea typeface="Arial"/>
                <a:cs typeface="Arial"/>
                <a:sym typeface="Arial"/>
              </a:rPr>
              <a:t>supervisión</a:t>
            </a:r>
            <a:endParaRPr sz="1080">
              <a:solidFill>
                <a:srgbClr val="2E3A40"/>
              </a:solidFill>
              <a:latin typeface="Arial"/>
              <a:ea typeface="Arial"/>
              <a:cs typeface="Arial"/>
              <a:sym typeface="Arial"/>
            </a:endParaRPr>
          </a:p>
          <a:p>
            <a:pPr indent="0" lvl="0" marL="457200" rtl="0" algn="l">
              <a:lnSpc>
                <a:spcPct val="100000"/>
              </a:lnSpc>
              <a:spcBef>
                <a:spcPts val="0"/>
              </a:spcBef>
              <a:spcAft>
                <a:spcPts val="0"/>
              </a:spcAft>
              <a:buNone/>
            </a:pPr>
            <a:r>
              <a:t/>
            </a:r>
            <a:endParaRPr sz="1080">
              <a:solidFill>
                <a:srgbClr val="2E3A40"/>
              </a:solidFill>
              <a:latin typeface="Arial"/>
              <a:ea typeface="Arial"/>
              <a:cs typeface="Arial"/>
              <a:sym typeface="Arial"/>
            </a:endParaRPr>
          </a:p>
          <a:p>
            <a:pPr indent="-298450" lvl="0" marL="457200" rtl="0" algn="l">
              <a:lnSpc>
                <a:spcPct val="100000"/>
              </a:lnSpc>
              <a:spcBef>
                <a:spcPts val="0"/>
              </a:spcBef>
              <a:spcAft>
                <a:spcPts val="0"/>
              </a:spcAft>
              <a:buClr>
                <a:srgbClr val="2E3A40"/>
              </a:buClr>
              <a:buSzPts val="1100"/>
              <a:buFont typeface="Arial"/>
              <a:buChar char="●"/>
            </a:pPr>
            <a:r>
              <a:rPr lang="es" sz="1080">
                <a:solidFill>
                  <a:srgbClr val="2E3A40"/>
                </a:solidFill>
                <a:latin typeface="Arial"/>
                <a:ea typeface="Arial"/>
                <a:cs typeface="Arial"/>
                <a:sym typeface="Arial"/>
              </a:rPr>
              <a:t>Almacenamiento local en modo offline</a:t>
            </a:r>
            <a:endParaRPr sz="1080">
              <a:solidFill>
                <a:srgbClr val="2E3A40"/>
              </a:solidFill>
              <a:latin typeface="Arial"/>
              <a:ea typeface="Arial"/>
              <a:cs typeface="Arial"/>
              <a:sym typeface="Arial"/>
            </a:endParaRPr>
          </a:p>
          <a:p>
            <a:pPr indent="0" lvl="0" marL="457200" rtl="0" algn="l">
              <a:lnSpc>
                <a:spcPct val="100000"/>
              </a:lnSpc>
              <a:spcBef>
                <a:spcPts val="0"/>
              </a:spcBef>
              <a:spcAft>
                <a:spcPts val="0"/>
              </a:spcAft>
              <a:buNone/>
            </a:pPr>
            <a:r>
              <a:t/>
            </a:r>
            <a:endParaRPr sz="1080">
              <a:solidFill>
                <a:srgbClr val="2E3A40"/>
              </a:solidFill>
              <a:latin typeface="Arial"/>
              <a:ea typeface="Arial"/>
              <a:cs typeface="Arial"/>
              <a:sym typeface="Arial"/>
            </a:endParaRPr>
          </a:p>
          <a:p>
            <a:pPr indent="-298450" lvl="0" marL="457200" rtl="0" algn="l">
              <a:lnSpc>
                <a:spcPct val="100000"/>
              </a:lnSpc>
              <a:spcBef>
                <a:spcPts val="0"/>
              </a:spcBef>
              <a:spcAft>
                <a:spcPts val="0"/>
              </a:spcAft>
              <a:buClr>
                <a:srgbClr val="2E3A40"/>
              </a:buClr>
              <a:buSzPts val="1100"/>
              <a:buFont typeface="Arial"/>
              <a:buChar char="●"/>
            </a:pPr>
            <a:r>
              <a:rPr lang="es" sz="1080">
                <a:solidFill>
                  <a:srgbClr val="2E3A40"/>
                </a:solidFill>
                <a:latin typeface="Arial"/>
                <a:ea typeface="Arial"/>
                <a:cs typeface="Arial"/>
                <a:sym typeface="Arial"/>
              </a:rPr>
              <a:t>Sincronización automática de registros offline</a:t>
            </a:r>
            <a:endParaRPr sz="1080">
              <a:solidFill>
                <a:srgbClr val="2E3A40"/>
              </a:solidFill>
              <a:latin typeface="Arial"/>
              <a:ea typeface="Arial"/>
              <a:cs typeface="Arial"/>
              <a:sym typeface="Arial"/>
            </a:endParaRPr>
          </a:p>
          <a:p>
            <a:pPr indent="0" lvl="0" marL="457200" rtl="0" algn="l">
              <a:lnSpc>
                <a:spcPct val="100000"/>
              </a:lnSpc>
              <a:spcBef>
                <a:spcPts val="0"/>
              </a:spcBef>
              <a:spcAft>
                <a:spcPts val="0"/>
              </a:spcAft>
              <a:buNone/>
            </a:pPr>
            <a:r>
              <a:t/>
            </a:r>
            <a:endParaRPr sz="1080">
              <a:solidFill>
                <a:srgbClr val="2E3A40"/>
              </a:solidFill>
              <a:latin typeface="Arial"/>
              <a:ea typeface="Arial"/>
              <a:cs typeface="Arial"/>
              <a:sym typeface="Arial"/>
            </a:endParaRPr>
          </a:p>
          <a:p>
            <a:pPr indent="-298450" lvl="0" marL="457200" rtl="0" algn="l">
              <a:lnSpc>
                <a:spcPct val="100000"/>
              </a:lnSpc>
              <a:spcBef>
                <a:spcPts val="0"/>
              </a:spcBef>
              <a:spcAft>
                <a:spcPts val="0"/>
              </a:spcAft>
              <a:buClr>
                <a:srgbClr val="2E3A40"/>
              </a:buClr>
              <a:buSzPts val="1100"/>
              <a:buFont typeface="Arial"/>
              <a:buChar char="●"/>
            </a:pPr>
            <a:r>
              <a:rPr lang="es" sz="1080">
                <a:solidFill>
                  <a:srgbClr val="2E3A40"/>
                </a:solidFill>
                <a:latin typeface="Arial"/>
                <a:ea typeface="Arial"/>
                <a:cs typeface="Arial"/>
                <a:sym typeface="Arial"/>
              </a:rPr>
              <a:t>Alertas al supervisor por observaciones</a:t>
            </a:r>
            <a:endParaRPr sz="1080">
              <a:solidFill>
                <a:srgbClr val="2E3A40"/>
              </a:solidFill>
              <a:latin typeface="Arial"/>
              <a:ea typeface="Arial"/>
              <a:cs typeface="Arial"/>
              <a:sym typeface="Arial"/>
            </a:endParaRPr>
          </a:p>
          <a:p>
            <a:pPr indent="0" lvl="0" marL="457200" rtl="0" algn="l">
              <a:lnSpc>
                <a:spcPct val="100000"/>
              </a:lnSpc>
              <a:spcBef>
                <a:spcPts val="0"/>
              </a:spcBef>
              <a:spcAft>
                <a:spcPts val="0"/>
              </a:spcAft>
              <a:buNone/>
            </a:pPr>
            <a:r>
              <a:t/>
            </a:r>
            <a:endParaRPr sz="1080">
              <a:solidFill>
                <a:srgbClr val="2E3A40"/>
              </a:solidFill>
              <a:latin typeface="Arial"/>
              <a:ea typeface="Arial"/>
              <a:cs typeface="Arial"/>
              <a:sym typeface="Arial"/>
            </a:endParaRPr>
          </a:p>
          <a:p>
            <a:pPr indent="-298450" lvl="0" marL="457200" rtl="0" algn="l">
              <a:lnSpc>
                <a:spcPct val="100000"/>
              </a:lnSpc>
              <a:spcBef>
                <a:spcPts val="0"/>
              </a:spcBef>
              <a:spcAft>
                <a:spcPts val="0"/>
              </a:spcAft>
              <a:buClr>
                <a:srgbClr val="2E3A40"/>
              </a:buClr>
              <a:buSzPts val="1100"/>
              <a:buFont typeface="Arial"/>
              <a:buChar char="●"/>
            </a:pPr>
            <a:r>
              <a:rPr lang="es" sz="1080">
                <a:solidFill>
                  <a:srgbClr val="2E3A40"/>
                </a:solidFill>
                <a:latin typeface="Arial"/>
                <a:ea typeface="Arial"/>
                <a:cs typeface="Arial"/>
                <a:sym typeface="Arial"/>
              </a:rPr>
              <a:t>Visualización inmediata del detalle de la alerta</a:t>
            </a:r>
            <a:endParaRPr sz="1100">
              <a:solidFill>
                <a:srgbClr val="2E3A40"/>
              </a:solidFill>
              <a:latin typeface="Arial"/>
              <a:ea typeface="Arial"/>
              <a:cs typeface="Arial"/>
              <a:sym typeface="Arial"/>
            </a:endParaRPr>
          </a:p>
        </p:txBody>
      </p:sp>
      <p:pic>
        <p:nvPicPr>
          <p:cNvPr id="174" name="Google Shape;174;p17"/>
          <p:cNvPicPr preferRelativeResize="0"/>
          <p:nvPr/>
        </p:nvPicPr>
        <p:blipFill>
          <a:blip r:embed="rId4">
            <a:alphaModFix/>
          </a:blip>
          <a:stretch>
            <a:fillRect/>
          </a:stretch>
        </p:blipFill>
        <p:spPr>
          <a:xfrm>
            <a:off x="6831975" y="1461138"/>
            <a:ext cx="345775" cy="339068"/>
          </a:xfrm>
          <a:prstGeom prst="rect">
            <a:avLst/>
          </a:prstGeom>
          <a:noFill/>
          <a:ln>
            <a:noFill/>
          </a:ln>
        </p:spPr>
      </p:pic>
      <p:pic>
        <p:nvPicPr>
          <p:cNvPr id="175" name="Google Shape;175;p17"/>
          <p:cNvPicPr preferRelativeResize="0"/>
          <p:nvPr/>
        </p:nvPicPr>
        <p:blipFill>
          <a:blip r:embed="rId4">
            <a:alphaModFix/>
          </a:blip>
          <a:stretch>
            <a:fillRect/>
          </a:stretch>
        </p:blipFill>
        <p:spPr>
          <a:xfrm>
            <a:off x="4260613" y="1461138"/>
            <a:ext cx="345775" cy="339068"/>
          </a:xfrm>
          <a:prstGeom prst="rect">
            <a:avLst/>
          </a:prstGeom>
          <a:noFill/>
          <a:ln>
            <a:noFill/>
          </a:ln>
        </p:spPr>
      </p:pic>
      <p:pic>
        <p:nvPicPr>
          <p:cNvPr id="176" name="Google Shape;176;p17"/>
          <p:cNvPicPr preferRelativeResize="0"/>
          <p:nvPr/>
        </p:nvPicPr>
        <p:blipFill>
          <a:blip r:embed="rId4">
            <a:alphaModFix/>
          </a:blip>
          <a:stretch>
            <a:fillRect/>
          </a:stretch>
        </p:blipFill>
        <p:spPr>
          <a:xfrm>
            <a:off x="1620613" y="1461138"/>
            <a:ext cx="345775" cy="33906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Limitaciones</a:t>
            </a:r>
            <a:endParaRPr/>
          </a:p>
        </p:txBody>
      </p:sp>
      <p:sp>
        <p:nvSpPr>
          <p:cNvPr id="182" name="Google Shape;182;p18"/>
          <p:cNvSpPr txBox="1"/>
          <p:nvPr>
            <p:ph idx="1" type="body"/>
          </p:nvPr>
        </p:nvSpPr>
        <p:spPr>
          <a:xfrm>
            <a:off x="819150" y="1800200"/>
            <a:ext cx="7505700" cy="2448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s" sz="1120">
                <a:solidFill>
                  <a:srgbClr val="2E3A40"/>
                </a:solidFill>
                <a:latin typeface="Arial"/>
                <a:ea typeface="Arial"/>
                <a:cs typeface="Arial"/>
                <a:sym typeface="Arial"/>
              </a:rPr>
              <a:t>• Funcionará solo con dispositivos que tengan lector NFC.</a:t>
            </a:r>
            <a:endParaRPr sz="1120">
              <a:solidFill>
                <a:srgbClr val="2E3A40"/>
              </a:solidFill>
              <a:latin typeface="Arial"/>
              <a:ea typeface="Arial"/>
              <a:cs typeface="Arial"/>
              <a:sym typeface="Arial"/>
            </a:endParaRPr>
          </a:p>
          <a:p>
            <a:pPr indent="0" lvl="0" marL="0" rtl="0" algn="l">
              <a:lnSpc>
                <a:spcPct val="100000"/>
              </a:lnSpc>
              <a:spcBef>
                <a:spcPts val="0"/>
              </a:spcBef>
              <a:spcAft>
                <a:spcPts val="0"/>
              </a:spcAft>
              <a:buClr>
                <a:srgbClr val="2E3A40"/>
              </a:buClr>
              <a:buSzPts val="1420"/>
              <a:buFont typeface="Arial"/>
              <a:buNone/>
            </a:pPr>
            <a:r>
              <a:t/>
            </a:r>
            <a:endParaRPr sz="1120">
              <a:solidFill>
                <a:srgbClr val="2E3A40"/>
              </a:solidFill>
              <a:latin typeface="Arial"/>
              <a:ea typeface="Arial"/>
              <a:cs typeface="Arial"/>
              <a:sym typeface="Arial"/>
            </a:endParaRPr>
          </a:p>
          <a:p>
            <a:pPr indent="0" lvl="0" marL="0" rtl="0" algn="l">
              <a:lnSpc>
                <a:spcPct val="100000"/>
              </a:lnSpc>
              <a:spcBef>
                <a:spcPts val="0"/>
              </a:spcBef>
              <a:spcAft>
                <a:spcPts val="0"/>
              </a:spcAft>
              <a:buNone/>
            </a:pPr>
            <a:r>
              <a:rPr lang="es" sz="1120">
                <a:solidFill>
                  <a:srgbClr val="2E3A40"/>
                </a:solidFill>
                <a:latin typeface="Arial"/>
                <a:ea typeface="Arial"/>
                <a:cs typeface="Arial"/>
                <a:sym typeface="Arial"/>
              </a:rPr>
              <a:t>• No gestionará dos ingresos de la misma sala al mismo tiempo.</a:t>
            </a:r>
            <a:endParaRPr sz="1120">
              <a:solidFill>
                <a:srgbClr val="2E3A40"/>
              </a:solidFill>
              <a:latin typeface="Arial"/>
              <a:ea typeface="Arial"/>
              <a:cs typeface="Arial"/>
              <a:sym typeface="Arial"/>
            </a:endParaRPr>
          </a:p>
          <a:p>
            <a:pPr indent="0" lvl="0" marL="0" rtl="0" algn="l">
              <a:lnSpc>
                <a:spcPct val="100000"/>
              </a:lnSpc>
              <a:spcBef>
                <a:spcPts val="0"/>
              </a:spcBef>
              <a:spcAft>
                <a:spcPts val="0"/>
              </a:spcAft>
              <a:buClr>
                <a:srgbClr val="2E3A40"/>
              </a:buClr>
              <a:buSzPts val="1420"/>
              <a:buFont typeface="Arial"/>
              <a:buNone/>
            </a:pPr>
            <a:r>
              <a:t/>
            </a:r>
            <a:endParaRPr sz="112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s" sz="1120">
                <a:solidFill>
                  <a:srgbClr val="2E3A40"/>
                </a:solidFill>
                <a:latin typeface="Arial"/>
                <a:ea typeface="Arial"/>
                <a:cs typeface="Arial"/>
                <a:sym typeface="Arial"/>
              </a:rPr>
              <a:t>• El trabajador no podrá modificar una solicitud una vez enviada.</a:t>
            </a:r>
            <a:endParaRPr sz="1120">
              <a:solidFill>
                <a:srgbClr val="2E3A40"/>
              </a:solidFill>
              <a:latin typeface="Arial"/>
              <a:ea typeface="Arial"/>
              <a:cs typeface="Arial"/>
              <a:sym typeface="Arial"/>
            </a:endParaRPr>
          </a:p>
          <a:p>
            <a:pPr indent="0" lvl="0" marL="0" rtl="0" algn="l">
              <a:lnSpc>
                <a:spcPct val="100000"/>
              </a:lnSpc>
              <a:spcBef>
                <a:spcPts val="0"/>
              </a:spcBef>
              <a:spcAft>
                <a:spcPts val="0"/>
              </a:spcAft>
              <a:buNone/>
            </a:pPr>
            <a:r>
              <a:t/>
            </a:r>
            <a:endParaRPr sz="1120">
              <a:solidFill>
                <a:srgbClr val="2E3A40"/>
              </a:solidFill>
              <a:latin typeface="Arial"/>
              <a:ea typeface="Arial"/>
              <a:cs typeface="Arial"/>
              <a:sym typeface="Arial"/>
            </a:endParaRPr>
          </a:p>
          <a:p>
            <a:pPr indent="0" lvl="0" marL="0" rtl="0" algn="l">
              <a:lnSpc>
                <a:spcPct val="100000"/>
              </a:lnSpc>
              <a:spcBef>
                <a:spcPts val="0"/>
              </a:spcBef>
              <a:spcAft>
                <a:spcPts val="0"/>
              </a:spcAft>
              <a:buNone/>
            </a:pPr>
            <a:r>
              <a:rPr lang="es" sz="1120">
                <a:solidFill>
                  <a:srgbClr val="2E3A40"/>
                </a:solidFill>
                <a:latin typeface="Arial"/>
                <a:ea typeface="Arial"/>
                <a:cs typeface="Arial"/>
                <a:sym typeface="Arial"/>
              </a:rPr>
              <a:t>• Solo </a:t>
            </a:r>
            <a:r>
              <a:rPr lang="es" sz="1120">
                <a:solidFill>
                  <a:srgbClr val="2E3A40"/>
                </a:solidFill>
                <a:latin typeface="Arial"/>
                <a:ea typeface="Arial"/>
                <a:cs typeface="Arial"/>
                <a:sym typeface="Arial"/>
              </a:rPr>
              <a:t>administra</a:t>
            </a:r>
            <a:r>
              <a:rPr lang="es" sz="1120">
                <a:solidFill>
                  <a:srgbClr val="2E3A40"/>
                </a:solidFill>
                <a:latin typeface="Arial"/>
                <a:ea typeface="Arial"/>
                <a:cs typeface="Arial"/>
                <a:sym typeface="Arial"/>
              </a:rPr>
              <a:t> inventario local</a:t>
            </a:r>
            <a:endParaRPr sz="1120">
              <a:solidFill>
                <a:srgbClr val="2E3A40"/>
              </a:solidFill>
              <a:latin typeface="Arial"/>
              <a:ea typeface="Arial"/>
              <a:cs typeface="Arial"/>
              <a:sym typeface="Arial"/>
            </a:endParaRPr>
          </a:p>
          <a:p>
            <a:pPr indent="0" lvl="0" marL="0" rtl="0" algn="l">
              <a:lnSpc>
                <a:spcPct val="100000"/>
              </a:lnSpc>
              <a:spcBef>
                <a:spcPts val="0"/>
              </a:spcBef>
              <a:spcAft>
                <a:spcPts val="0"/>
              </a:spcAft>
              <a:buNone/>
            </a:pPr>
            <a:r>
              <a:t/>
            </a:r>
            <a:endParaRPr sz="1120">
              <a:solidFill>
                <a:srgbClr val="2E3A40"/>
              </a:solidFill>
              <a:latin typeface="Arial"/>
              <a:ea typeface="Arial"/>
              <a:cs typeface="Arial"/>
              <a:sym typeface="Arial"/>
            </a:endParaRPr>
          </a:p>
          <a:p>
            <a:pPr indent="0" lvl="0" marL="0" rtl="0" algn="l">
              <a:lnSpc>
                <a:spcPct val="100000"/>
              </a:lnSpc>
              <a:spcBef>
                <a:spcPts val="0"/>
              </a:spcBef>
              <a:spcAft>
                <a:spcPts val="0"/>
              </a:spcAft>
              <a:buNone/>
            </a:pPr>
            <a:r>
              <a:rPr lang="es" sz="1120">
                <a:solidFill>
                  <a:srgbClr val="2E3A40"/>
                </a:solidFill>
                <a:latin typeface="Arial"/>
                <a:ea typeface="Arial"/>
                <a:cs typeface="Arial"/>
                <a:sym typeface="Arial"/>
              </a:rPr>
              <a:t>• No incorporará reconocimiento facial, biométrico u otros mecanismos distintos a credenciales.</a:t>
            </a:r>
            <a:endParaRPr sz="1120">
              <a:solidFill>
                <a:srgbClr val="2E3A40"/>
              </a:solidFill>
              <a:latin typeface="Arial"/>
              <a:ea typeface="Arial"/>
              <a:cs typeface="Arial"/>
              <a:sym typeface="Arial"/>
            </a:endParaRPr>
          </a:p>
          <a:p>
            <a:pPr indent="0" lvl="0" marL="0" rtl="0" algn="l">
              <a:lnSpc>
                <a:spcPct val="100000"/>
              </a:lnSpc>
              <a:spcBef>
                <a:spcPts val="0"/>
              </a:spcBef>
              <a:spcAft>
                <a:spcPts val="0"/>
              </a:spcAft>
              <a:buNone/>
            </a:pPr>
            <a:r>
              <a:t/>
            </a:r>
            <a:endParaRPr sz="1120">
              <a:solidFill>
                <a:srgbClr val="2E3A40"/>
              </a:solidFill>
              <a:latin typeface="Arial"/>
              <a:ea typeface="Arial"/>
              <a:cs typeface="Arial"/>
              <a:sym typeface="Arial"/>
            </a:endParaRPr>
          </a:p>
          <a:p>
            <a:pPr indent="0" lvl="0" marL="0" rtl="0" algn="l">
              <a:lnSpc>
                <a:spcPct val="100000"/>
              </a:lnSpc>
              <a:spcBef>
                <a:spcPts val="0"/>
              </a:spcBef>
              <a:spcAft>
                <a:spcPts val="0"/>
              </a:spcAft>
              <a:buNone/>
            </a:pPr>
            <a:r>
              <a:rPr lang="es" sz="1120">
                <a:solidFill>
                  <a:srgbClr val="2E3A40"/>
                </a:solidFill>
                <a:latin typeface="Arial"/>
                <a:ea typeface="Arial"/>
                <a:cs typeface="Arial"/>
                <a:sym typeface="Arial"/>
              </a:rPr>
              <a:t>• No realizará análisis predictivo ni inteligencia artificial para anticipar necesidades futuras de aseo.</a:t>
            </a:r>
            <a:endParaRPr sz="1120">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2E3A40"/>
              </a:buClr>
              <a:buSzPts val="1420"/>
              <a:buFont typeface="Arial"/>
              <a:buNone/>
            </a:pPr>
            <a:r>
              <a:t/>
            </a:r>
            <a:endParaRPr sz="1120">
              <a:solidFill>
                <a:srgbClr val="2E3A40"/>
              </a:solidFill>
              <a:latin typeface="Arial"/>
              <a:ea typeface="Arial"/>
              <a:cs typeface="Arial"/>
              <a:sym typeface="Arial"/>
            </a:endParaRPr>
          </a:p>
        </p:txBody>
      </p:sp>
      <p:pic>
        <p:nvPicPr>
          <p:cNvPr id="183" name="Google Shape;183;p18" title="b9690f8d5b9d91f8c4bd01f0c3e8752b.png"/>
          <p:cNvPicPr preferRelativeResize="0"/>
          <p:nvPr/>
        </p:nvPicPr>
        <p:blipFill>
          <a:blip r:embed="rId3">
            <a:alphaModFix/>
          </a:blip>
          <a:stretch>
            <a:fillRect/>
          </a:stretch>
        </p:blipFill>
        <p:spPr>
          <a:xfrm>
            <a:off x="7196475" y="303976"/>
            <a:ext cx="1625600" cy="400025"/>
          </a:xfrm>
          <a:prstGeom prst="rect">
            <a:avLst/>
          </a:prstGeom>
          <a:noFill/>
          <a:ln>
            <a:noFill/>
          </a:ln>
        </p:spPr>
      </p:pic>
      <p:pic>
        <p:nvPicPr>
          <p:cNvPr id="184" name="Google Shape;184;p18"/>
          <p:cNvPicPr preferRelativeResize="0"/>
          <p:nvPr/>
        </p:nvPicPr>
        <p:blipFill>
          <a:blip r:embed="rId4">
            <a:alphaModFix/>
          </a:blip>
          <a:stretch>
            <a:fillRect/>
          </a:stretch>
        </p:blipFill>
        <p:spPr>
          <a:xfrm>
            <a:off x="3162425" y="1037525"/>
            <a:ext cx="345775" cy="342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Metodología: Scrum</a:t>
            </a:r>
            <a:endParaRPr/>
          </a:p>
        </p:txBody>
      </p:sp>
      <p:sp>
        <p:nvSpPr>
          <p:cNvPr id="190" name="Google Shape;190;p19"/>
          <p:cNvSpPr txBox="1"/>
          <p:nvPr>
            <p:ph idx="1" type="body"/>
          </p:nvPr>
        </p:nvSpPr>
        <p:spPr>
          <a:xfrm>
            <a:off x="819150" y="1601100"/>
            <a:ext cx="7505700" cy="2837700"/>
          </a:xfrm>
          <a:prstGeom prst="rect">
            <a:avLst/>
          </a:prstGeom>
        </p:spPr>
        <p:txBody>
          <a:bodyPr anchorCtr="0" anchor="t" bIns="91425" lIns="91425" spcFirstLastPara="1" rIns="91425" wrap="square" tIns="91425">
            <a:normAutofit fontScale="40000" lnSpcReduction="20000"/>
          </a:bodyPr>
          <a:lstStyle/>
          <a:p>
            <a:pPr indent="0" lvl="0" marL="0" rtl="0" algn="just">
              <a:lnSpc>
                <a:spcPct val="107916"/>
              </a:lnSpc>
              <a:spcBef>
                <a:spcPts val="0"/>
              </a:spcBef>
              <a:spcAft>
                <a:spcPts val="0"/>
              </a:spcAft>
              <a:buNone/>
            </a:pPr>
            <a:r>
              <a:rPr lang="es" sz="2750">
                <a:solidFill>
                  <a:srgbClr val="000000"/>
                </a:solidFill>
                <a:latin typeface="Arial"/>
                <a:ea typeface="Arial"/>
                <a:cs typeface="Arial"/>
                <a:sym typeface="Arial"/>
              </a:rPr>
              <a:t>Para el desarrollo del proyecto se utilizará una metodología ágil basada en Scrum, ya que permite organizar el trabajo de forma colaborativa, avanzar por etapas y realizar mejoras a medida que se van revisando los resultados considerando </a:t>
            </a:r>
            <a:r>
              <a:rPr lang="es" sz="2750">
                <a:solidFill>
                  <a:srgbClr val="000000"/>
                </a:solidFill>
                <a:latin typeface="Arial"/>
                <a:ea typeface="Arial"/>
                <a:cs typeface="Arial"/>
                <a:sym typeface="Arial"/>
              </a:rPr>
              <a:t>también</a:t>
            </a:r>
            <a:r>
              <a:rPr lang="es" sz="2750">
                <a:solidFill>
                  <a:srgbClr val="000000"/>
                </a:solidFill>
                <a:latin typeface="Arial"/>
                <a:ea typeface="Arial"/>
                <a:cs typeface="Arial"/>
                <a:sym typeface="Arial"/>
              </a:rPr>
              <a:t> la </a:t>
            </a:r>
            <a:r>
              <a:rPr lang="es" sz="2750">
                <a:solidFill>
                  <a:srgbClr val="000000"/>
                </a:solidFill>
                <a:latin typeface="Arial"/>
                <a:ea typeface="Arial"/>
                <a:cs typeface="Arial"/>
                <a:sym typeface="Arial"/>
              </a:rPr>
              <a:t>cercanía</a:t>
            </a:r>
            <a:r>
              <a:rPr lang="es" sz="2750">
                <a:solidFill>
                  <a:srgbClr val="000000"/>
                </a:solidFill>
                <a:latin typeface="Arial"/>
                <a:ea typeface="Arial"/>
                <a:cs typeface="Arial"/>
                <a:sym typeface="Arial"/>
              </a:rPr>
              <a:t> del cliente (Dentro del establecimiento).</a:t>
            </a:r>
            <a:endParaRPr sz="2750">
              <a:solidFill>
                <a:srgbClr val="000000"/>
              </a:solidFill>
              <a:latin typeface="Arial"/>
              <a:ea typeface="Arial"/>
              <a:cs typeface="Arial"/>
              <a:sym typeface="Arial"/>
            </a:endParaRPr>
          </a:p>
          <a:p>
            <a:pPr indent="0" lvl="0" marL="0" rtl="0" algn="just">
              <a:lnSpc>
                <a:spcPct val="107916"/>
              </a:lnSpc>
              <a:spcBef>
                <a:spcPts val="800"/>
              </a:spcBef>
              <a:spcAft>
                <a:spcPts val="0"/>
              </a:spcAft>
              <a:buNone/>
            </a:pPr>
            <a:r>
              <a:rPr lang="es" sz="2750">
                <a:solidFill>
                  <a:srgbClr val="000000"/>
                </a:solidFill>
                <a:latin typeface="Arial"/>
                <a:ea typeface="Arial"/>
                <a:cs typeface="Arial"/>
                <a:sym typeface="Arial"/>
              </a:rPr>
              <a:t>Puntos principales:</a:t>
            </a:r>
            <a:endParaRPr sz="2750">
              <a:solidFill>
                <a:srgbClr val="000000"/>
              </a:solidFill>
              <a:latin typeface="Arial"/>
              <a:ea typeface="Arial"/>
              <a:cs typeface="Arial"/>
              <a:sym typeface="Arial"/>
            </a:endParaRPr>
          </a:p>
          <a:p>
            <a:pPr indent="-298450" lvl="0" marL="457200" rtl="0" algn="just">
              <a:lnSpc>
                <a:spcPct val="107916"/>
              </a:lnSpc>
              <a:spcBef>
                <a:spcPts val="800"/>
              </a:spcBef>
              <a:spcAft>
                <a:spcPts val="0"/>
              </a:spcAft>
              <a:buClr>
                <a:srgbClr val="000000"/>
              </a:buClr>
              <a:buSzPct val="100000"/>
              <a:buFont typeface="Arial"/>
              <a:buChar char="●"/>
            </a:pPr>
            <a:r>
              <a:rPr lang="es" sz="2750">
                <a:solidFill>
                  <a:srgbClr val="000000"/>
                </a:solidFill>
                <a:latin typeface="Arial"/>
                <a:ea typeface="Arial"/>
                <a:cs typeface="Arial"/>
                <a:sym typeface="Arial"/>
              </a:rPr>
              <a:t>Desarrollar la aplicación de forma incremental.</a:t>
            </a:r>
            <a:endParaRPr sz="2750">
              <a:solidFill>
                <a:srgbClr val="000000"/>
              </a:solidFill>
              <a:latin typeface="Arial"/>
              <a:ea typeface="Arial"/>
              <a:cs typeface="Arial"/>
              <a:sym typeface="Arial"/>
            </a:endParaRPr>
          </a:p>
          <a:p>
            <a:pPr indent="-298450" lvl="0" marL="457200" rtl="0" algn="just">
              <a:lnSpc>
                <a:spcPct val="107916"/>
              </a:lnSpc>
              <a:spcBef>
                <a:spcPts val="800"/>
              </a:spcBef>
              <a:spcAft>
                <a:spcPts val="0"/>
              </a:spcAft>
              <a:buClr>
                <a:srgbClr val="000000"/>
              </a:buClr>
              <a:buSzPct val="100000"/>
              <a:buFont typeface="Arial"/>
              <a:buChar char="●"/>
            </a:pPr>
            <a:r>
              <a:rPr lang="es" sz="2750">
                <a:solidFill>
                  <a:srgbClr val="000000"/>
                </a:solidFill>
                <a:latin typeface="Arial"/>
                <a:ea typeface="Arial"/>
                <a:cs typeface="Arial"/>
                <a:sym typeface="Arial"/>
              </a:rPr>
              <a:t>Organizar y distribuir el trabajo del equipo.</a:t>
            </a:r>
            <a:endParaRPr sz="2750">
              <a:solidFill>
                <a:srgbClr val="000000"/>
              </a:solidFill>
              <a:latin typeface="Arial"/>
              <a:ea typeface="Arial"/>
              <a:cs typeface="Arial"/>
              <a:sym typeface="Arial"/>
            </a:endParaRPr>
          </a:p>
          <a:p>
            <a:pPr indent="-298450" lvl="0" marL="457200" rtl="0" algn="just">
              <a:lnSpc>
                <a:spcPct val="107916"/>
              </a:lnSpc>
              <a:spcBef>
                <a:spcPts val="800"/>
              </a:spcBef>
              <a:spcAft>
                <a:spcPts val="0"/>
              </a:spcAft>
              <a:buClr>
                <a:srgbClr val="000000"/>
              </a:buClr>
              <a:buSzPct val="100000"/>
              <a:buFont typeface="Arial"/>
              <a:buChar char="●"/>
            </a:pPr>
            <a:r>
              <a:rPr lang="es" sz="2750">
                <a:solidFill>
                  <a:srgbClr val="000000"/>
                </a:solidFill>
                <a:latin typeface="Arial"/>
                <a:ea typeface="Arial"/>
                <a:cs typeface="Arial"/>
                <a:sym typeface="Arial"/>
              </a:rPr>
              <a:t>Priorizar las funcionalidades más importantes.</a:t>
            </a:r>
            <a:endParaRPr sz="2750">
              <a:solidFill>
                <a:srgbClr val="000000"/>
              </a:solidFill>
              <a:latin typeface="Arial"/>
              <a:ea typeface="Arial"/>
              <a:cs typeface="Arial"/>
              <a:sym typeface="Arial"/>
            </a:endParaRPr>
          </a:p>
          <a:p>
            <a:pPr indent="-298450" lvl="0" marL="457200" rtl="0" algn="just">
              <a:lnSpc>
                <a:spcPct val="107916"/>
              </a:lnSpc>
              <a:spcBef>
                <a:spcPts val="800"/>
              </a:spcBef>
              <a:spcAft>
                <a:spcPts val="0"/>
              </a:spcAft>
              <a:buClr>
                <a:srgbClr val="000000"/>
              </a:buClr>
              <a:buSzPct val="100000"/>
              <a:buFont typeface="Arial"/>
              <a:buChar char="●"/>
            </a:pPr>
            <a:r>
              <a:rPr lang="es" sz="2750">
                <a:solidFill>
                  <a:srgbClr val="000000"/>
                </a:solidFill>
                <a:latin typeface="Arial"/>
                <a:ea typeface="Arial"/>
                <a:cs typeface="Arial"/>
                <a:sym typeface="Arial"/>
              </a:rPr>
              <a:t>Mantener una comunicación frecuente con el cliente.</a:t>
            </a:r>
            <a:endParaRPr sz="2750">
              <a:solidFill>
                <a:srgbClr val="000000"/>
              </a:solidFill>
              <a:latin typeface="Arial"/>
              <a:ea typeface="Arial"/>
              <a:cs typeface="Arial"/>
              <a:sym typeface="Arial"/>
            </a:endParaRPr>
          </a:p>
          <a:p>
            <a:pPr indent="-298450" lvl="0" marL="457200" rtl="0" algn="just">
              <a:lnSpc>
                <a:spcPct val="107916"/>
              </a:lnSpc>
              <a:spcBef>
                <a:spcPts val="800"/>
              </a:spcBef>
              <a:spcAft>
                <a:spcPts val="0"/>
              </a:spcAft>
              <a:buClr>
                <a:srgbClr val="000000"/>
              </a:buClr>
              <a:buSzPct val="100000"/>
              <a:buFont typeface="Arial"/>
              <a:buChar char="●"/>
            </a:pPr>
            <a:r>
              <a:rPr lang="es" sz="2750">
                <a:solidFill>
                  <a:srgbClr val="000000"/>
                </a:solidFill>
                <a:latin typeface="Arial"/>
                <a:ea typeface="Arial"/>
                <a:cs typeface="Arial"/>
                <a:sym typeface="Arial"/>
              </a:rPr>
              <a:t>Validar los avances durante el desarrollo.</a:t>
            </a:r>
            <a:endParaRPr sz="2750">
              <a:solidFill>
                <a:srgbClr val="000000"/>
              </a:solidFill>
              <a:latin typeface="Arial"/>
              <a:ea typeface="Arial"/>
              <a:cs typeface="Arial"/>
              <a:sym typeface="Arial"/>
            </a:endParaRPr>
          </a:p>
          <a:p>
            <a:pPr indent="-298450" lvl="0" marL="457200" rtl="0" algn="just">
              <a:lnSpc>
                <a:spcPct val="107916"/>
              </a:lnSpc>
              <a:spcBef>
                <a:spcPts val="800"/>
              </a:spcBef>
              <a:spcAft>
                <a:spcPts val="0"/>
              </a:spcAft>
              <a:buClr>
                <a:srgbClr val="000000"/>
              </a:buClr>
              <a:buSzPct val="100000"/>
              <a:buFont typeface="Arial"/>
              <a:buChar char="●"/>
            </a:pPr>
            <a:r>
              <a:rPr lang="es" sz="2750">
                <a:solidFill>
                  <a:srgbClr val="000000"/>
                </a:solidFill>
                <a:latin typeface="Arial"/>
                <a:ea typeface="Arial"/>
                <a:cs typeface="Arial"/>
                <a:sym typeface="Arial"/>
              </a:rPr>
              <a:t>Realizar ajustes según las observaciones recibidas.</a:t>
            </a:r>
            <a:endParaRPr sz="2750">
              <a:solidFill>
                <a:srgbClr val="000000"/>
              </a:solidFill>
              <a:latin typeface="Arial"/>
              <a:ea typeface="Arial"/>
              <a:cs typeface="Arial"/>
              <a:sym typeface="Arial"/>
            </a:endParaRPr>
          </a:p>
          <a:p>
            <a:pPr indent="-298450" lvl="0" marL="457200" rtl="0" algn="just">
              <a:lnSpc>
                <a:spcPct val="107916"/>
              </a:lnSpc>
              <a:spcBef>
                <a:spcPts val="800"/>
              </a:spcBef>
              <a:spcAft>
                <a:spcPts val="0"/>
              </a:spcAft>
              <a:buClr>
                <a:srgbClr val="000000"/>
              </a:buClr>
              <a:buSzPct val="100000"/>
              <a:buFont typeface="Arial"/>
              <a:buChar char="●"/>
            </a:pPr>
            <a:r>
              <a:rPr lang="es" sz="2750">
                <a:solidFill>
                  <a:srgbClr val="000000"/>
                </a:solidFill>
                <a:latin typeface="Arial"/>
                <a:ea typeface="Arial"/>
                <a:cs typeface="Arial"/>
                <a:sym typeface="Arial"/>
              </a:rPr>
              <a:t>Detectar problemas antes de las etapas finales.</a:t>
            </a:r>
            <a:endParaRPr sz="2750">
              <a:solidFill>
                <a:srgbClr val="000000"/>
              </a:solidFill>
              <a:latin typeface="Arial"/>
              <a:ea typeface="Arial"/>
              <a:cs typeface="Arial"/>
              <a:sym typeface="Arial"/>
            </a:endParaRPr>
          </a:p>
          <a:p>
            <a:pPr indent="0" lvl="0" marL="457200" rtl="0" algn="just">
              <a:lnSpc>
                <a:spcPct val="107916"/>
              </a:lnSpc>
              <a:spcBef>
                <a:spcPts val="800"/>
              </a:spcBef>
              <a:spcAft>
                <a:spcPts val="800"/>
              </a:spcAft>
              <a:buNone/>
            </a:pPr>
            <a:r>
              <a:t/>
            </a:r>
            <a:endParaRPr sz="1100">
              <a:solidFill>
                <a:srgbClr val="000000"/>
              </a:solidFill>
              <a:latin typeface="Arial"/>
              <a:ea typeface="Arial"/>
              <a:cs typeface="Arial"/>
              <a:sym typeface="Arial"/>
            </a:endParaRPr>
          </a:p>
        </p:txBody>
      </p:sp>
      <p:pic>
        <p:nvPicPr>
          <p:cNvPr id="191" name="Google Shape;191;p19" title="b9690f8d5b9d91f8c4bd01f0c3e8752b.png"/>
          <p:cNvPicPr preferRelativeResize="0"/>
          <p:nvPr/>
        </p:nvPicPr>
        <p:blipFill>
          <a:blip r:embed="rId3">
            <a:alphaModFix/>
          </a:blip>
          <a:stretch>
            <a:fillRect/>
          </a:stretch>
        </p:blipFill>
        <p:spPr>
          <a:xfrm>
            <a:off x="7196475" y="303976"/>
            <a:ext cx="1625600" cy="400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Tecnología: Firebase/Flutter/Dart</a:t>
            </a:r>
            <a:endParaRPr/>
          </a:p>
        </p:txBody>
      </p:sp>
      <p:sp>
        <p:nvSpPr>
          <p:cNvPr id="197" name="Google Shape;197;p20"/>
          <p:cNvSpPr txBox="1"/>
          <p:nvPr>
            <p:ph idx="1" type="body"/>
          </p:nvPr>
        </p:nvSpPr>
        <p:spPr>
          <a:xfrm>
            <a:off x="759125" y="1620475"/>
            <a:ext cx="7505700" cy="2448000"/>
          </a:xfrm>
          <a:prstGeom prst="rect">
            <a:avLst/>
          </a:prstGeom>
        </p:spPr>
        <p:txBody>
          <a:bodyPr anchorCtr="0" anchor="t" bIns="91425" lIns="91425" spcFirstLastPara="1" rIns="91425" wrap="square" tIns="91425">
            <a:normAutofit/>
          </a:bodyPr>
          <a:lstStyle/>
          <a:p>
            <a:pPr indent="0" lvl="0" marL="0" rtl="0" algn="just">
              <a:lnSpc>
                <a:spcPct val="107916"/>
              </a:lnSpc>
              <a:spcBef>
                <a:spcPts val="0"/>
              </a:spcBef>
              <a:spcAft>
                <a:spcPts val="0"/>
              </a:spcAft>
              <a:buNone/>
            </a:pPr>
            <a:r>
              <a:rPr lang="es" sz="1100">
                <a:solidFill>
                  <a:srgbClr val="000000"/>
                </a:solidFill>
                <a:latin typeface="Arial"/>
                <a:ea typeface="Arial"/>
                <a:cs typeface="Arial"/>
                <a:sym typeface="Arial"/>
              </a:rPr>
              <a:t>Para el desarrollo de la aplicación se utilizará Flutter con el lenguaje Dart, junto con servicios de Firebase. Esta combinación se considera adecuada para el proyecto porque permite desarrollar en una sola aplicación móvil las distintas funcionalidades que se requieran.</a:t>
            </a:r>
            <a:endParaRPr sz="1100">
              <a:solidFill>
                <a:srgbClr val="000000"/>
              </a:solidFill>
              <a:latin typeface="Arial"/>
              <a:ea typeface="Arial"/>
              <a:cs typeface="Arial"/>
              <a:sym typeface="Arial"/>
            </a:endParaRPr>
          </a:p>
          <a:p>
            <a:pPr indent="-298450" lvl="0" marL="457200" rtl="0" algn="just">
              <a:lnSpc>
                <a:spcPct val="107916"/>
              </a:lnSpc>
              <a:spcBef>
                <a:spcPts val="800"/>
              </a:spcBef>
              <a:spcAft>
                <a:spcPts val="0"/>
              </a:spcAft>
              <a:buClr>
                <a:srgbClr val="000000"/>
              </a:buClr>
              <a:buSzPts val="1100"/>
              <a:buFont typeface="Arial"/>
              <a:buChar char="●"/>
            </a:pPr>
            <a:r>
              <a:rPr lang="es" sz="1100">
                <a:solidFill>
                  <a:srgbClr val="000000"/>
                </a:solidFill>
                <a:latin typeface="Arial"/>
                <a:ea typeface="Arial"/>
                <a:cs typeface="Arial"/>
                <a:sym typeface="Arial"/>
              </a:rPr>
              <a:t>Flutter permite trabajar con una única base de código</a:t>
            </a:r>
            <a:endParaRPr sz="1100">
              <a:solidFill>
                <a:srgbClr val="000000"/>
              </a:solidFill>
              <a:latin typeface="Arial"/>
              <a:ea typeface="Arial"/>
              <a:cs typeface="Arial"/>
              <a:sym typeface="Arial"/>
            </a:endParaRPr>
          </a:p>
          <a:p>
            <a:pPr indent="-298450" lvl="0" marL="457200" rtl="0" algn="just">
              <a:lnSpc>
                <a:spcPct val="107916"/>
              </a:lnSpc>
              <a:spcBef>
                <a:spcPts val="800"/>
              </a:spcBef>
              <a:spcAft>
                <a:spcPts val="0"/>
              </a:spcAft>
              <a:buClr>
                <a:srgbClr val="000000"/>
              </a:buClr>
              <a:buSzPts val="1100"/>
              <a:buFont typeface="Arial"/>
              <a:buChar char="●"/>
            </a:pPr>
            <a:r>
              <a:rPr lang="es" sz="1100">
                <a:solidFill>
                  <a:srgbClr val="000000"/>
                </a:solidFill>
                <a:latin typeface="Arial"/>
                <a:ea typeface="Arial"/>
                <a:cs typeface="Arial"/>
                <a:sym typeface="Arial"/>
              </a:rPr>
              <a:t>Firebase permitirá complementar el desarrollo mediante distintos servicios.</a:t>
            </a:r>
            <a:endParaRPr sz="1100">
              <a:solidFill>
                <a:srgbClr val="000000"/>
              </a:solidFill>
              <a:latin typeface="Arial"/>
              <a:ea typeface="Arial"/>
              <a:cs typeface="Arial"/>
              <a:sym typeface="Arial"/>
            </a:endParaRPr>
          </a:p>
          <a:p>
            <a:pPr indent="-298450" lvl="0" marL="457200" rtl="0" algn="just">
              <a:lnSpc>
                <a:spcPct val="107916"/>
              </a:lnSpc>
              <a:spcBef>
                <a:spcPts val="800"/>
              </a:spcBef>
              <a:spcAft>
                <a:spcPts val="0"/>
              </a:spcAft>
              <a:buClr>
                <a:srgbClr val="000000"/>
              </a:buClr>
              <a:buSzPts val="1100"/>
              <a:buFont typeface="Arial"/>
              <a:buChar char="●"/>
            </a:pPr>
            <a:r>
              <a:rPr lang="es" sz="1100">
                <a:solidFill>
                  <a:srgbClr val="000000"/>
                </a:solidFill>
                <a:latin typeface="Arial"/>
                <a:ea typeface="Arial"/>
                <a:cs typeface="Arial"/>
                <a:sym typeface="Arial"/>
              </a:rPr>
              <a:t>Firebase Authentication</a:t>
            </a:r>
            <a:endParaRPr sz="1100">
              <a:solidFill>
                <a:srgbClr val="000000"/>
              </a:solidFill>
              <a:latin typeface="Arial"/>
              <a:ea typeface="Arial"/>
              <a:cs typeface="Arial"/>
              <a:sym typeface="Arial"/>
            </a:endParaRPr>
          </a:p>
          <a:p>
            <a:pPr indent="-298450" lvl="0" marL="457200" rtl="0" algn="just">
              <a:lnSpc>
                <a:spcPct val="107916"/>
              </a:lnSpc>
              <a:spcBef>
                <a:spcPts val="800"/>
              </a:spcBef>
              <a:spcAft>
                <a:spcPts val="800"/>
              </a:spcAft>
              <a:buClr>
                <a:srgbClr val="000000"/>
              </a:buClr>
              <a:buSzPts val="1100"/>
              <a:buFont typeface="Arial"/>
              <a:buChar char="●"/>
            </a:pPr>
            <a:r>
              <a:rPr lang="es" sz="1100">
                <a:solidFill>
                  <a:srgbClr val="000000"/>
                </a:solidFill>
                <a:latin typeface="Arial"/>
                <a:ea typeface="Arial"/>
                <a:cs typeface="Arial"/>
                <a:sym typeface="Arial"/>
              </a:rPr>
              <a:t>Cloud Firestore</a:t>
            </a:r>
            <a:endParaRPr sz="1100">
              <a:solidFill>
                <a:srgbClr val="000000"/>
              </a:solidFill>
              <a:latin typeface="Arial"/>
              <a:ea typeface="Arial"/>
              <a:cs typeface="Arial"/>
              <a:sym typeface="Arial"/>
            </a:endParaRPr>
          </a:p>
        </p:txBody>
      </p:sp>
      <p:pic>
        <p:nvPicPr>
          <p:cNvPr id="198" name="Google Shape;198;p20" title="b9690f8d5b9d91f8c4bd01f0c3e8752b.png"/>
          <p:cNvPicPr preferRelativeResize="0"/>
          <p:nvPr/>
        </p:nvPicPr>
        <p:blipFill>
          <a:blip r:embed="rId3">
            <a:alphaModFix/>
          </a:blip>
          <a:stretch>
            <a:fillRect/>
          </a:stretch>
        </p:blipFill>
        <p:spPr>
          <a:xfrm>
            <a:off x="7196475" y="303976"/>
            <a:ext cx="1625600" cy="400025"/>
          </a:xfrm>
          <a:prstGeom prst="rect">
            <a:avLst/>
          </a:prstGeom>
          <a:noFill/>
          <a:ln>
            <a:noFill/>
          </a:ln>
        </p:spPr>
      </p:pic>
      <p:pic>
        <p:nvPicPr>
          <p:cNvPr id="199" name="Google Shape;199;p20" title="images.png"/>
          <p:cNvPicPr preferRelativeResize="0"/>
          <p:nvPr/>
        </p:nvPicPr>
        <p:blipFill>
          <a:blip r:embed="rId4">
            <a:alphaModFix/>
          </a:blip>
          <a:stretch>
            <a:fillRect/>
          </a:stretch>
        </p:blipFill>
        <p:spPr>
          <a:xfrm>
            <a:off x="3021500" y="3190750"/>
            <a:ext cx="954600" cy="954600"/>
          </a:xfrm>
          <a:prstGeom prst="rect">
            <a:avLst/>
          </a:prstGeom>
          <a:noFill/>
          <a:ln>
            <a:noFill/>
          </a:ln>
        </p:spPr>
      </p:pic>
      <p:pic>
        <p:nvPicPr>
          <p:cNvPr id="200" name="Google Shape;200;p20" title="fb7e5700-6ccc-11e9-83fe-f602e1e1a9f1.png"/>
          <p:cNvPicPr preferRelativeResize="0"/>
          <p:nvPr/>
        </p:nvPicPr>
        <p:blipFill>
          <a:blip r:embed="rId5">
            <a:alphaModFix/>
          </a:blip>
          <a:stretch>
            <a:fillRect/>
          </a:stretch>
        </p:blipFill>
        <p:spPr>
          <a:xfrm>
            <a:off x="4016150" y="3267635"/>
            <a:ext cx="1746896" cy="8008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1"/>
          <p:cNvSpPr txBox="1"/>
          <p:nvPr>
            <p:ph type="title"/>
          </p:nvPr>
        </p:nvSpPr>
        <p:spPr>
          <a:xfrm>
            <a:off x="819150" y="4603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Cronograma</a:t>
            </a:r>
            <a:endParaRPr/>
          </a:p>
        </p:txBody>
      </p:sp>
      <p:pic>
        <p:nvPicPr>
          <p:cNvPr id="206" name="Google Shape;206;p21" title="b9690f8d5b9d91f8c4bd01f0c3e8752b.png"/>
          <p:cNvPicPr preferRelativeResize="0"/>
          <p:nvPr/>
        </p:nvPicPr>
        <p:blipFill>
          <a:blip r:embed="rId3">
            <a:alphaModFix/>
          </a:blip>
          <a:stretch>
            <a:fillRect/>
          </a:stretch>
        </p:blipFill>
        <p:spPr>
          <a:xfrm>
            <a:off x="7196475" y="303976"/>
            <a:ext cx="1625600" cy="400025"/>
          </a:xfrm>
          <a:prstGeom prst="rect">
            <a:avLst/>
          </a:prstGeom>
          <a:noFill/>
          <a:ln>
            <a:noFill/>
          </a:ln>
        </p:spPr>
      </p:pic>
      <p:pic>
        <p:nvPicPr>
          <p:cNvPr id="207" name="Google Shape;207;p21" title="Tabla Cuadro Comparativo Profesional Moderno Verde.png"/>
          <p:cNvPicPr preferRelativeResize="0"/>
          <p:nvPr/>
        </p:nvPicPr>
        <p:blipFill>
          <a:blip r:embed="rId4">
            <a:alphaModFix/>
          </a:blip>
          <a:stretch>
            <a:fillRect/>
          </a:stretch>
        </p:blipFill>
        <p:spPr>
          <a:xfrm>
            <a:off x="1245850" y="1135150"/>
            <a:ext cx="6517975" cy="3528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Comentarios Finales</a:t>
            </a:r>
            <a:endParaRPr/>
          </a:p>
        </p:txBody>
      </p:sp>
      <p:sp>
        <p:nvSpPr>
          <p:cNvPr id="213" name="Google Shape;213;p22"/>
          <p:cNvSpPr txBox="1"/>
          <p:nvPr>
            <p:ph idx="1" type="body"/>
          </p:nvPr>
        </p:nvSpPr>
        <p:spPr>
          <a:xfrm>
            <a:off x="622500" y="1670675"/>
            <a:ext cx="3949500" cy="802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s" sz="1700">
                <a:solidFill>
                  <a:srgbClr val="2E3A40"/>
                </a:solidFill>
                <a:latin typeface="Arial"/>
                <a:ea typeface="Arial"/>
                <a:cs typeface="Arial"/>
                <a:sym typeface="Arial"/>
              </a:rPr>
              <a:t>1. Problemática real</a:t>
            </a:r>
            <a:endParaRPr b="1" sz="1700">
              <a:solidFill>
                <a:srgbClr val="2E3A40"/>
              </a:solidFill>
              <a:latin typeface="Arial"/>
              <a:ea typeface="Arial"/>
              <a:cs typeface="Arial"/>
              <a:sym typeface="Arial"/>
            </a:endParaRPr>
          </a:p>
          <a:p>
            <a:pPr indent="0" lvl="0" marL="0" rtl="0" algn="l">
              <a:spcBef>
                <a:spcPts val="0"/>
              </a:spcBef>
              <a:spcAft>
                <a:spcPts val="0"/>
              </a:spcAft>
              <a:buNone/>
            </a:pPr>
            <a:r>
              <a:rPr lang="es" sz="1500">
                <a:solidFill>
                  <a:srgbClr val="2E3A40"/>
                </a:solidFill>
                <a:latin typeface="Arial"/>
                <a:ea typeface="Arial"/>
                <a:cs typeface="Arial"/>
                <a:sym typeface="Arial"/>
              </a:rPr>
              <a:t>Falta de trazabilidad y supervisión oportuna.</a:t>
            </a:r>
            <a:endParaRPr sz="1500">
              <a:solidFill>
                <a:srgbClr val="2E3A40"/>
              </a:solidFill>
              <a:latin typeface="Arial"/>
              <a:ea typeface="Arial"/>
              <a:cs typeface="Arial"/>
              <a:sym typeface="Arial"/>
            </a:endParaRPr>
          </a:p>
          <a:p>
            <a:pPr indent="0" lvl="0" marL="0" rtl="0" algn="l">
              <a:spcBef>
                <a:spcPts val="0"/>
              </a:spcBef>
              <a:spcAft>
                <a:spcPts val="1200"/>
              </a:spcAft>
              <a:buNone/>
            </a:pPr>
            <a:r>
              <a:t/>
            </a:r>
            <a:endParaRPr/>
          </a:p>
        </p:txBody>
      </p:sp>
      <p:sp>
        <p:nvSpPr>
          <p:cNvPr id="214" name="Google Shape;214;p22"/>
          <p:cNvSpPr txBox="1"/>
          <p:nvPr>
            <p:ph idx="1" type="body"/>
          </p:nvPr>
        </p:nvSpPr>
        <p:spPr>
          <a:xfrm>
            <a:off x="622500" y="2817500"/>
            <a:ext cx="3949500" cy="802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s" sz="1700">
                <a:solidFill>
                  <a:srgbClr val="2E3A40"/>
                </a:solidFill>
                <a:latin typeface="Arial"/>
                <a:ea typeface="Arial"/>
                <a:cs typeface="Arial"/>
                <a:sym typeface="Arial"/>
              </a:rPr>
              <a:t>3.Impacto esperado</a:t>
            </a:r>
            <a:endParaRPr b="1" sz="1700">
              <a:solidFill>
                <a:srgbClr val="2E3A40"/>
              </a:solidFill>
              <a:latin typeface="Arial"/>
              <a:ea typeface="Arial"/>
              <a:cs typeface="Arial"/>
              <a:sym typeface="Arial"/>
            </a:endParaRPr>
          </a:p>
          <a:p>
            <a:pPr indent="0" lvl="0" marL="0" rtl="0" algn="l">
              <a:spcBef>
                <a:spcPts val="0"/>
              </a:spcBef>
              <a:spcAft>
                <a:spcPts val="0"/>
              </a:spcAft>
              <a:buNone/>
            </a:pPr>
            <a:r>
              <a:rPr lang="es" sz="1500">
                <a:solidFill>
                  <a:srgbClr val="2E3A40"/>
                </a:solidFill>
                <a:latin typeface="Arial"/>
                <a:ea typeface="Arial"/>
                <a:cs typeface="Arial"/>
                <a:sym typeface="Arial"/>
              </a:rPr>
              <a:t>Mayor control, eficiencia y respuesta</a:t>
            </a:r>
            <a:r>
              <a:rPr lang="es" sz="1100">
                <a:solidFill>
                  <a:srgbClr val="000000"/>
                </a:solidFill>
                <a:latin typeface="Arial"/>
                <a:ea typeface="Arial"/>
                <a:cs typeface="Arial"/>
                <a:sym typeface="Arial"/>
              </a:rPr>
              <a:t> </a:t>
            </a:r>
            <a:endParaRPr b="1" sz="1700">
              <a:solidFill>
                <a:srgbClr val="2E3A40"/>
              </a:solidFill>
              <a:latin typeface="Arial"/>
              <a:ea typeface="Arial"/>
              <a:cs typeface="Arial"/>
              <a:sym typeface="Arial"/>
            </a:endParaRPr>
          </a:p>
          <a:p>
            <a:pPr indent="0" lvl="0" marL="0" rtl="0" algn="l">
              <a:spcBef>
                <a:spcPts val="0"/>
              </a:spcBef>
              <a:spcAft>
                <a:spcPts val="1200"/>
              </a:spcAft>
              <a:buNone/>
            </a:pPr>
            <a:r>
              <a:t/>
            </a:r>
            <a:endParaRPr/>
          </a:p>
        </p:txBody>
      </p:sp>
      <p:sp>
        <p:nvSpPr>
          <p:cNvPr id="215" name="Google Shape;215;p22"/>
          <p:cNvSpPr txBox="1"/>
          <p:nvPr>
            <p:ph idx="1" type="body"/>
          </p:nvPr>
        </p:nvSpPr>
        <p:spPr>
          <a:xfrm>
            <a:off x="4572000" y="1670675"/>
            <a:ext cx="3949500" cy="8028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s" sz="6200">
                <a:solidFill>
                  <a:srgbClr val="2E3A40"/>
                </a:solidFill>
                <a:latin typeface="Arial"/>
                <a:ea typeface="Arial"/>
                <a:cs typeface="Arial"/>
                <a:sym typeface="Arial"/>
              </a:rPr>
              <a:t>2. Solución digital</a:t>
            </a:r>
            <a:endParaRPr b="1" sz="6200">
              <a:solidFill>
                <a:srgbClr val="2E3A40"/>
              </a:solidFill>
              <a:latin typeface="Arial"/>
              <a:ea typeface="Arial"/>
              <a:cs typeface="Arial"/>
              <a:sym typeface="Arial"/>
            </a:endParaRPr>
          </a:p>
          <a:p>
            <a:pPr indent="0" lvl="0" marL="0" rtl="0" algn="l">
              <a:spcBef>
                <a:spcPts val="0"/>
              </a:spcBef>
              <a:spcAft>
                <a:spcPts val="0"/>
              </a:spcAft>
              <a:buNone/>
            </a:pPr>
            <a:r>
              <a:rPr lang="es" sz="5400">
                <a:solidFill>
                  <a:srgbClr val="2E3A40"/>
                </a:solidFill>
                <a:latin typeface="Arial"/>
                <a:ea typeface="Arial"/>
                <a:cs typeface="Arial"/>
                <a:sym typeface="Arial"/>
              </a:rPr>
              <a:t>Registro móvil mediante NFC, evidencia y alertas.</a:t>
            </a:r>
            <a:endParaRPr sz="5400">
              <a:solidFill>
                <a:srgbClr val="2E3A40"/>
              </a:solidFill>
              <a:latin typeface="Arial"/>
              <a:ea typeface="Arial"/>
              <a:cs typeface="Arial"/>
              <a:sym typeface="Arial"/>
            </a:endParaRPr>
          </a:p>
          <a:p>
            <a:pPr indent="0" lvl="0" marL="0" rtl="0" algn="l">
              <a:spcBef>
                <a:spcPts val="0"/>
              </a:spcBef>
              <a:spcAft>
                <a:spcPts val="0"/>
              </a:spcAft>
              <a:buNone/>
            </a:pPr>
            <a:r>
              <a:t/>
            </a:r>
            <a:endParaRPr b="1" sz="1700">
              <a:solidFill>
                <a:srgbClr val="2E3A40"/>
              </a:solidFill>
              <a:latin typeface="Arial"/>
              <a:ea typeface="Arial"/>
              <a:cs typeface="Arial"/>
              <a:sym typeface="Arial"/>
            </a:endParaRPr>
          </a:p>
          <a:p>
            <a:pPr indent="0" lvl="0" marL="0" rtl="0" algn="l">
              <a:spcBef>
                <a:spcPts val="1200"/>
              </a:spcBef>
              <a:spcAft>
                <a:spcPts val="1200"/>
              </a:spcAft>
              <a:buNone/>
            </a:pPr>
            <a:r>
              <a:t/>
            </a:r>
            <a:endParaRPr b="1" sz="1700">
              <a:solidFill>
                <a:srgbClr val="2E3A40"/>
              </a:solidFill>
              <a:latin typeface="Arial"/>
              <a:ea typeface="Arial"/>
              <a:cs typeface="Arial"/>
              <a:sym typeface="Arial"/>
            </a:endParaRPr>
          </a:p>
        </p:txBody>
      </p:sp>
      <p:sp>
        <p:nvSpPr>
          <p:cNvPr id="216" name="Google Shape;216;p22"/>
          <p:cNvSpPr txBox="1"/>
          <p:nvPr>
            <p:ph idx="1" type="body"/>
          </p:nvPr>
        </p:nvSpPr>
        <p:spPr>
          <a:xfrm>
            <a:off x="4572000" y="2817500"/>
            <a:ext cx="3949500" cy="11646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s" sz="6200">
                <a:solidFill>
                  <a:srgbClr val="2E3A40"/>
                </a:solidFill>
                <a:latin typeface="Arial"/>
                <a:ea typeface="Arial"/>
                <a:cs typeface="Arial"/>
                <a:sym typeface="Arial"/>
              </a:rPr>
              <a:t>4</a:t>
            </a:r>
            <a:r>
              <a:rPr b="1" lang="es" sz="6200">
                <a:solidFill>
                  <a:srgbClr val="2E3A40"/>
                </a:solidFill>
                <a:latin typeface="Arial"/>
                <a:ea typeface="Arial"/>
                <a:cs typeface="Arial"/>
                <a:sym typeface="Arial"/>
              </a:rPr>
              <a:t>. Proyección</a:t>
            </a:r>
            <a:endParaRPr b="1" sz="6200">
              <a:solidFill>
                <a:srgbClr val="2E3A40"/>
              </a:solidFill>
              <a:latin typeface="Arial"/>
              <a:ea typeface="Arial"/>
              <a:cs typeface="Arial"/>
              <a:sym typeface="Arial"/>
            </a:endParaRPr>
          </a:p>
          <a:p>
            <a:pPr indent="0" lvl="0" marL="0" rtl="0" algn="l">
              <a:spcBef>
                <a:spcPts val="0"/>
              </a:spcBef>
              <a:spcAft>
                <a:spcPts val="0"/>
              </a:spcAft>
              <a:buNone/>
            </a:pPr>
            <a:r>
              <a:rPr lang="es" sz="5400">
                <a:solidFill>
                  <a:srgbClr val="2E3A40"/>
                </a:solidFill>
                <a:latin typeface="Arial"/>
                <a:ea typeface="Arial"/>
                <a:cs typeface="Arial"/>
                <a:sym typeface="Arial"/>
              </a:rPr>
              <a:t>+20% de productividad</a:t>
            </a:r>
            <a:endParaRPr sz="5400">
              <a:solidFill>
                <a:srgbClr val="2E3A40"/>
              </a:solidFill>
              <a:latin typeface="Arial"/>
              <a:ea typeface="Arial"/>
              <a:cs typeface="Arial"/>
              <a:sym typeface="Arial"/>
            </a:endParaRPr>
          </a:p>
          <a:p>
            <a:pPr indent="0" lvl="0" marL="0" rtl="0" algn="l">
              <a:spcBef>
                <a:spcPts val="0"/>
              </a:spcBef>
              <a:spcAft>
                <a:spcPts val="0"/>
              </a:spcAft>
              <a:buNone/>
            </a:pPr>
            <a:r>
              <a:rPr lang="es" sz="5400">
                <a:solidFill>
                  <a:srgbClr val="2E3A40"/>
                </a:solidFill>
                <a:latin typeface="Arial"/>
                <a:ea typeface="Arial"/>
                <a:cs typeface="Arial"/>
                <a:sym typeface="Arial"/>
              </a:rPr>
              <a:t>-60% número de reclamos</a:t>
            </a:r>
            <a:endParaRPr sz="5400">
              <a:solidFill>
                <a:srgbClr val="2E3A40"/>
              </a:solidFill>
              <a:latin typeface="Arial"/>
              <a:ea typeface="Arial"/>
              <a:cs typeface="Arial"/>
              <a:sym typeface="Arial"/>
            </a:endParaRPr>
          </a:p>
          <a:p>
            <a:pPr indent="0" lvl="0" marL="0" rtl="0" algn="l">
              <a:spcBef>
                <a:spcPts val="0"/>
              </a:spcBef>
              <a:spcAft>
                <a:spcPts val="0"/>
              </a:spcAft>
              <a:buNone/>
            </a:pPr>
            <a:r>
              <a:rPr lang="es" sz="5400">
                <a:solidFill>
                  <a:srgbClr val="2E3A40"/>
                </a:solidFill>
                <a:latin typeface="Arial"/>
                <a:ea typeface="Arial"/>
                <a:cs typeface="Arial"/>
                <a:sym typeface="Arial"/>
              </a:rPr>
              <a:t>-70% tiempo necesario entre detección de falta de insumos</a:t>
            </a:r>
            <a:endParaRPr sz="5400">
              <a:solidFill>
                <a:srgbClr val="2E3A4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